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6" r:id="rId31"/>
    <p:sldId id="287" r:id="rId32"/>
    <p:sldId id="288" r:id="rId3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76726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Bienvenida y presentación del curso: dos clases, Clase 1 DevOps + Docker, Clase 2 CI/CD y Cloud (AWS).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14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4000" dirty="0">
                <a:solidFill>
                  <a:srgbClr val="F2F5F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40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676400"/>
            <a:ext cx="10566400" cy="436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F2F5F0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4000" dirty="0">
                <a:solidFill>
                  <a:srgbClr val="F2F5F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40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676400"/>
            <a:ext cx="10566400" cy="436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F2F5F0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693069"/>
            <a:ext cx="65405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200" dirty="0">
                <a:solidFill>
                  <a:srgbClr val="8BE3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MICROCREDENCIAL · C.F.P. N°20</a:t>
            </a:r>
            <a:endParaRPr lang="en-US" sz="14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2145109"/>
            <a:ext cx="6540500" cy="1732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720"/>
              </a:lnSpc>
              <a:buNone/>
            </a:pPr>
            <a:r>
              <a:rPr lang="en-US" sz="6400" b="1" i="0" dirty="0">
                <a:solidFill>
                  <a:srgbClr val="F2F5F0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Fundamentos de </a:t>
            </a:r>
            <a:r>
              <a:rPr lang="en-US" sz="6400" b="1" i="0" dirty="0">
                <a:solidFill>
                  <a:srgbClr val="8BE37F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DevOps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812800" y="4055070"/>
            <a:ext cx="6540500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A9B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Conceptos esenciales de administración de servidores y servicios en la nube.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12800" y="4898231"/>
            <a:ext cx="65405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2F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Viernes 9 y 16 de octubre · 17:30 hs · Virtual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0" y="1600200"/>
            <a:ext cx="3606800" cy="365760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7" name="Image 0" descr="Logo AMdelCo – Centro de Formación Profesional N°20"/>
          <p:cNvPicPr>
            <a:picLocks noChangeAspect="1"/>
          </p:cNvPicPr>
          <p:nvPr/>
        </p:nvPicPr>
        <p:blipFill>
          <a:blip r:embed="rId3"/>
          <a:srcRect t="-1622" b="-1622"/>
          <a:stretch/>
        </p:blipFill>
        <p:spPr>
          <a:xfrm>
            <a:off x="8077200" y="1905000"/>
            <a:ext cx="2997200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4000" b="1" i="0" dirty="0">
                <a:solidFill>
                  <a:srgbClr val="14181B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Índice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19150" y="1733550"/>
            <a:ext cx="5143500" cy="3549650"/>
          </a:xfrm>
          <a:prstGeom prst="roundRect">
            <a:avLst>
              <a:gd name="adj" fmla="val 4114"/>
            </a:avLst>
          </a:prstGeom>
          <a:solidFill>
            <a:srgbClr val="FFFFFF"/>
          </a:solidFill>
          <a:ln w="12700">
            <a:solidFill>
              <a:srgbClr val="DFE5D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/>
          <p:nvPr/>
        </p:nvSpPr>
        <p:spPr>
          <a:xfrm>
            <a:off x="1130300" y="2044700"/>
            <a:ext cx="4656836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150" dirty="0">
                <a:solidFill>
                  <a:srgbClr val="2E7D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CLASE 1 · VIERNES 9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30300" y="2420541"/>
            <a:ext cx="4656836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14181B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DevOps + Docker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180084" y="2913261"/>
            <a:ext cx="4599432" cy="2082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04216" indent="-204216" algn="l">
              <a:lnSpc>
                <a:spcPts val="2700"/>
              </a:lnSpc>
              <a:buSzPct val="100000"/>
              <a:buChar char="•"/>
            </a:pPr>
            <a:r>
              <a:rPr lang="en-US" sz="1800" dirty="0">
                <a:solidFill>
                  <a:srgbClr val="14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¿Qué es DevOps?</a:t>
            </a:r>
            <a:endParaRPr lang="en-US" sz="1800" dirty="0"/>
          </a:p>
          <a:p>
            <a:pPr marL="204216" indent="-204216" algn="l">
              <a:lnSpc>
                <a:spcPts val="2700"/>
              </a:lnSpc>
              <a:buSzPct val="100000"/>
              <a:buChar char="•"/>
            </a:pPr>
            <a:r>
              <a:rPr lang="en-US" sz="1800" dirty="0">
                <a:solidFill>
                  <a:srgbClr val="14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Ciclo DevOps</a:t>
            </a:r>
            <a:endParaRPr lang="en-US" sz="1800" dirty="0"/>
          </a:p>
          <a:p>
            <a:pPr marL="204216" indent="-204216" algn="l">
              <a:lnSpc>
                <a:spcPts val="2700"/>
              </a:lnSpc>
              <a:buSzPct val="100000"/>
              <a:buChar char="•"/>
            </a:pPr>
            <a:r>
              <a:rPr lang="en-US" sz="1800" dirty="0">
                <a:solidFill>
                  <a:srgbClr val="14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Git/</a:t>
            </a:r>
            <a:r>
              <a:rPr lang="en-US" sz="1800" dirty="0" err="1">
                <a:solidFill>
                  <a:srgbClr val="14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</a:t>
            </a:r>
            <a:endParaRPr lang="en-US" sz="1800" dirty="0"/>
          </a:p>
          <a:p>
            <a:pPr marL="204216" indent="-204216" algn="l">
              <a:lnSpc>
                <a:spcPts val="2700"/>
              </a:lnSpc>
              <a:buSzPct val="100000"/>
              <a:buChar char="•"/>
            </a:pPr>
            <a:r>
              <a:rPr lang="en-US" sz="1800" dirty="0">
                <a:solidFill>
                  <a:srgbClr val="14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Docker y contenedores</a:t>
            </a:r>
            <a:endParaRPr lang="en-US" sz="1800" dirty="0"/>
          </a:p>
          <a:p>
            <a:pPr marL="204216" indent="-204216" algn="l">
              <a:lnSpc>
                <a:spcPts val="2700"/>
              </a:lnSpc>
              <a:buSzPct val="100000"/>
              <a:buChar char="•"/>
            </a:pPr>
            <a:r>
              <a:rPr lang="en-US" sz="1800" dirty="0">
                <a:solidFill>
                  <a:srgbClr val="14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Práctica 1: portfolio</a:t>
            </a:r>
            <a:endParaRPr lang="en-US" sz="1800" dirty="0"/>
          </a:p>
          <a:p>
            <a:pPr marL="204216" indent="-204216" algn="l">
              <a:lnSpc>
                <a:spcPts val="2700"/>
              </a:lnSpc>
              <a:buSzPct val="100000"/>
              <a:buChar char="•"/>
            </a:pPr>
            <a:r>
              <a:rPr lang="en-US" sz="1800" dirty="0">
                <a:solidFill>
                  <a:srgbClr val="14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Práctica 2: Docker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229350" y="1733550"/>
            <a:ext cx="5143500" cy="3549650"/>
          </a:xfrm>
          <a:prstGeom prst="roundRect">
            <a:avLst>
              <a:gd name="adj" fmla="val 4114"/>
            </a:avLst>
          </a:prstGeom>
          <a:solidFill>
            <a:srgbClr val="FFFFFF"/>
          </a:solidFill>
          <a:ln w="12700">
            <a:solidFill>
              <a:srgbClr val="DFE5D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Text 7"/>
          <p:cNvSpPr/>
          <p:nvPr/>
        </p:nvSpPr>
        <p:spPr>
          <a:xfrm>
            <a:off x="6540500" y="2044700"/>
            <a:ext cx="4656836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150" dirty="0">
                <a:solidFill>
                  <a:srgbClr val="2E7D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CLASE 2 · VIERNES 16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40500" y="2420541"/>
            <a:ext cx="4656836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14181B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 Cloud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590284" y="2913261"/>
            <a:ext cx="4599432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04216" indent="-204216" algn="l">
              <a:lnSpc>
                <a:spcPts val="2700"/>
              </a:lnSpc>
              <a:buSzPct val="100000"/>
              <a:buChar char="•"/>
            </a:pPr>
            <a:r>
              <a:rPr lang="en-US" sz="1800" dirty="0">
                <a:solidFill>
                  <a:srgbClr val="14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 y AWS</a:t>
            </a:r>
            <a:endParaRPr lang="en-US" sz="1800" dirty="0"/>
          </a:p>
          <a:p>
            <a:pPr marL="204216" indent="-204216" algn="l">
              <a:lnSpc>
                <a:spcPts val="2700"/>
              </a:lnSpc>
              <a:buSzPct val="100000"/>
              <a:buChar char="•"/>
            </a:pPr>
            <a:r>
              <a:rPr lang="en-US" sz="1800" dirty="0">
                <a:solidFill>
                  <a:srgbClr val="14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EC2 · S3 · RDS</a:t>
            </a:r>
            <a:endParaRPr lang="en-US" sz="1800" dirty="0"/>
          </a:p>
          <a:p>
            <a:pPr marL="204216" indent="-204216" algn="l">
              <a:lnSpc>
                <a:spcPts val="2700"/>
              </a:lnSpc>
              <a:buSzPct val="100000"/>
              <a:buChar char="•"/>
            </a:pPr>
            <a:r>
              <a:rPr lang="en-US" sz="1800" dirty="0">
                <a:solidFill>
                  <a:srgbClr val="14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IAM</a:t>
            </a:r>
            <a:endParaRPr lang="en-US" sz="1800" dirty="0"/>
          </a:p>
          <a:p>
            <a:pPr marL="204216" indent="-204216" algn="l">
              <a:lnSpc>
                <a:spcPts val="2700"/>
              </a:lnSpc>
              <a:buSzPct val="100000"/>
              <a:buChar char="•"/>
            </a:pPr>
            <a:r>
              <a:rPr lang="en-US" sz="1800" dirty="0">
                <a:solidFill>
                  <a:srgbClr val="14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CloudWatch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amian Trajster"/>
          <p:cNvPicPr>
            <a:picLocks noChangeAspect="1"/>
          </p:cNvPicPr>
          <p:nvPr/>
        </p:nvPicPr>
        <p:blipFill>
          <a:blip r:embed="rId3"/>
          <a:srcRect l="175" r="175"/>
          <a:stretch/>
        </p:blipFill>
        <p:spPr>
          <a:xfrm>
            <a:off x="889000" y="1371600"/>
            <a:ext cx="2895600" cy="3911600"/>
          </a:xfrm>
          <a:prstGeom prst="roundRect">
            <a:avLst>
              <a:gd name="adj" fmla="val 3509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850900" y="1333500"/>
            <a:ext cx="2971800" cy="3987800"/>
          </a:xfrm>
          <a:prstGeom prst="roundRect">
            <a:avLst>
              <a:gd name="adj" fmla="val 4701"/>
            </a:avLst>
          </a:prstGeom>
          <a:noFill/>
          <a:ln w="762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" name="Text 1"/>
          <p:cNvSpPr/>
          <p:nvPr/>
        </p:nvSpPr>
        <p:spPr>
          <a:xfrm>
            <a:off x="4470400" y="1367929"/>
            <a:ext cx="7116064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200" dirty="0">
                <a:solidFill>
                  <a:srgbClr val="8BE3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QUIÉN TE ACOMPAÑA</a:t>
            </a:r>
            <a:endParaRPr lang="en-US" sz="1400" dirty="0"/>
          </a:p>
        </p:txBody>
      </p:sp>
      <p:sp>
        <p:nvSpPr>
          <p:cNvPr id="5" name="Text 2"/>
          <p:cNvSpPr>
            <a:spLocks noGrp="1"/>
          </p:cNvSpPr>
          <p:nvPr>
            <p:ph type="title"/>
          </p:nvPr>
        </p:nvSpPr>
        <p:spPr>
          <a:xfrm>
            <a:off x="4470400" y="1819970"/>
            <a:ext cx="7116064" cy="1198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620"/>
              </a:lnSpc>
              <a:buNone/>
            </a:pPr>
            <a:r>
              <a:rPr lang="en-US" sz="4400" b="1" i="0" dirty="0">
                <a:solidFill>
                  <a:srgbClr val="F2F5F0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Hola, soy Damian Trajster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4470400" y="3196530"/>
            <a:ext cx="7116064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8BE3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Coordinador e Instructor · CFP N°20 – AMdelCo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520184" y="3719711"/>
            <a:ext cx="7058660" cy="1122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04216" indent="-204216" algn="l">
              <a:lnSpc>
                <a:spcPts val="2880"/>
              </a:lnSpc>
              <a:buSzPct val="100000"/>
              <a:buChar char="•"/>
            </a:pPr>
            <a:r>
              <a:rPr lang="en-US" sz="1800" dirty="0">
                <a:solidFill>
                  <a:srgbClr val="F2F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Licenciado en Sistemas Computacionales</a:t>
            </a:r>
            <a:endParaRPr lang="en-US" sz="1800" dirty="0"/>
          </a:p>
          <a:p>
            <a:pPr marL="204216" indent="-204216" algn="l">
              <a:lnSpc>
                <a:spcPts val="2880"/>
              </a:lnSpc>
              <a:buSzPct val="100000"/>
              <a:buChar char="•"/>
            </a:pPr>
            <a:r>
              <a:rPr lang="en-US" sz="1800" dirty="0">
                <a:solidFill>
                  <a:srgbClr val="F2F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Desarrollador Web y Docente IT</a:t>
            </a:r>
            <a:endParaRPr lang="en-US" sz="1800" dirty="0"/>
          </a:p>
          <a:p>
            <a:pPr marL="204216" indent="-204216" algn="l">
              <a:lnSpc>
                <a:spcPts val="2880"/>
              </a:lnSpc>
              <a:buSzPct val="100000"/>
              <a:buChar char="•"/>
            </a:pPr>
            <a:r>
              <a:rPr lang="en-US" sz="1800" dirty="0">
                <a:solidFill>
                  <a:srgbClr val="F2F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Orientando mi carrera hacia DevOps &amp; Data Engineering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470400" y="5020072"/>
            <a:ext cx="711606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A9B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linkedin.com/in/damian-trajster · @damian_dev_web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10769600" y="5943600"/>
            <a:ext cx="609600" cy="609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10" name="Image 1" descr="Logo AMdelC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9600" y="5948172"/>
            <a:ext cx="609600" cy="600456"/>
          </a:xfrm>
          <a:custGeom>
            <a:avLst/>
            <a:gdLst/>
            <a:ahLst/>
            <a:cxnLst/>
            <a:rect l="l" t="t" r="r" b="b"/>
            <a:pathLst>
              <a:path w="609600" h="600456">
                <a:moveTo>
                  <a:pt x="0" y="97028"/>
                </a:moveTo>
                <a:arcTo wR="101600" hR="101600" stAng="10800000" swAng="4364769"/>
                <a:lnTo>
                  <a:pt x="538135" y="0"/>
                </a:lnTo>
                <a:arcTo wR="101600" hR="101600" stAng="17235231" swAng="4364769"/>
                <a:lnTo>
                  <a:pt x="609600" y="503428"/>
                </a:lnTo>
                <a:arcTo wR="101600" hR="101600" stAng="0" swAng="4364769"/>
                <a:lnTo>
                  <a:pt x="71465" y="600456"/>
                </a:lnTo>
                <a:arcTo wR="101600" hR="101600" stAng="6435231" swAng="4364769"/>
                <a:close/>
              </a:path>
            </a:pathLst>
          </a:cu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4000" b="1" i="0" dirty="0">
                <a:solidFill>
                  <a:srgbClr val="F2F5F0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El problema de siempre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19150" y="1657350"/>
            <a:ext cx="2247900" cy="947341"/>
          </a:xfrm>
          <a:prstGeom prst="roundRect">
            <a:avLst>
              <a:gd name="adj" fmla="val 12736"/>
            </a:avLst>
          </a:prstGeom>
          <a:solidFill>
            <a:srgbClr val="1E2427"/>
          </a:solidFill>
          <a:ln w="12700">
            <a:solidFill>
              <a:srgbClr val="2D363A"/>
            </a:solidFill>
            <a:prstDash val="solid"/>
          </a:ln>
        </p:spPr>
        <p:txBody>
          <a:bodyPr wrap="square" lIns="68295" tIns="174213" rIns="68295" bIns="148813" rtlCol="0" anchor="t">
            <a:normAutofit/>
          </a:bodyPr>
          <a:lstStyle/>
          <a:p>
            <a:pPr marL="0" indent="0" algn="ctr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F2F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desarrollador crea la aplicación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175000" y="1917700"/>
            <a:ext cx="36576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8BE3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587750" y="1657350"/>
            <a:ext cx="2247900" cy="947341"/>
          </a:xfrm>
          <a:prstGeom prst="roundRect">
            <a:avLst>
              <a:gd name="adj" fmla="val 12736"/>
            </a:avLst>
          </a:prstGeom>
          <a:solidFill>
            <a:srgbClr val="1E2427"/>
          </a:solidFill>
          <a:ln w="12700">
            <a:solidFill>
              <a:srgbClr val="2D363A"/>
            </a:solidFill>
            <a:prstDash val="solid"/>
          </a:ln>
        </p:spPr>
        <p:txBody>
          <a:bodyPr wrap="square" lIns="68295" tIns="174213" rIns="68295" bIns="148813" rtlCol="0" anchor="t">
            <a:normAutofit/>
          </a:bodyPr>
          <a:lstStyle/>
          <a:p>
            <a:pPr marL="0" indent="0" algn="ctr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F2F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"En mi PC funciona"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943600" y="1917700"/>
            <a:ext cx="36576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8BE3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356350" y="1657350"/>
            <a:ext cx="2247900" cy="947341"/>
          </a:xfrm>
          <a:prstGeom prst="roundRect">
            <a:avLst>
              <a:gd name="adj" fmla="val 12736"/>
            </a:avLst>
          </a:prstGeom>
          <a:solidFill>
            <a:srgbClr val="1E2427"/>
          </a:solidFill>
          <a:ln w="12700">
            <a:solidFill>
              <a:srgbClr val="2D363A"/>
            </a:solidFill>
            <a:prstDash val="solid"/>
          </a:ln>
        </p:spPr>
        <p:txBody>
          <a:bodyPr wrap="square" lIns="68295" tIns="174213" rIns="68295" bIns="148813" rtlCol="0" anchor="t">
            <a:normAutofit/>
          </a:bodyPr>
          <a:lstStyle/>
          <a:p>
            <a:pPr marL="0" indent="0" algn="ctr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F2F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Pasa la aplicación al servidor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712200" y="1917700"/>
            <a:ext cx="36576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8BE3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124950" y="1789410"/>
            <a:ext cx="2247900" cy="683220"/>
          </a:xfrm>
          <a:prstGeom prst="roundRect">
            <a:avLst>
              <a:gd name="adj" fmla="val 17659"/>
            </a:avLst>
          </a:prstGeom>
          <a:solidFill>
            <a:srgbClr val="8BE37F"/>
          </a:solidFill>
          <a:ln w="12700">
            <a:solidFill>
              <a:srgbClr val="2D363A"/>
            </a:solidFill>
            <a:prstDash val="solid"/>
          </a:ln>
        </p:spPr>
        <p:txBody>
          <a:bodyPr wrap="square" lIns="68295" tIns="174213" rIns="68295" bIns="148813" rtlCol="0" anchor="t">
            <a:normAutofit/>
          </a:bodyPr>
          <a:lstStyle/>
          <a:p>
            <a:pPr marL="0" indent="0" algn="ctr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4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FUNCIONA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12800" y="2890441"/>
            <a:ext cx="11379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A9B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¿Alguna vez hicieron un programa que funcionaba en su computadora pero no en otra?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4000" b="1" i="0" dirty="0">
                <a:solidFill>
                  <a:srgbClr val="14181B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Dos mundos separados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819150" y="1657350"/>
            <a:ext cx="5181600" cy="1772841"/>
          </a:xfrm>
          <a:prstGeom prst="roundRect">
            <a:avLst>
              <a:gd name="adj" fmla="val 8238"/>
            </a:avLst>
          </a:prstGeom>
          <a:solidFill>
            <a:srgbClr val="FFFFFF"/>
          </a:solidFill>
          <a:ln w="12700">
            <a:solidFill>
              <a:srgbClr val="DFE5D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" name="Text 2"/>
          <p:cNvSpPr/>
          <p:nvPr/>
        </p:nvSpPr>
        <p:spPr>
          <a:xfrm>
            <a:off x="1054100" y="1892300"/>
            <a:ext cx="4853051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50" dirty="0">
                <a:solidFill>
                  <a:srgbClr val="2E7D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54100" y="2224980"/>
            <a:ext cx="4853051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4181B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Desarrollo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4100" y="2661841"/>
            <a:ext cx="4853051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5D68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 el software: escribe código, agrega funciones y corrige errores.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91250" y="1657350"/>
            <a:ext cx="5181600" cy="1772841"/>
          </a:xfrm>
          <a:prstGeom prst="roundRect">
            <a:avLst>
              <a:gd name="adj" fmla="val 8238"/>
            </a:avLst>
          </a:prstGeom>
          <a:solidFill>
            <a:srgbClr val="FFFFFF"/>
          </a:solidFill>
          <a:ln w="12700">
            <a:solidFill>
              <a:srgbClr val="DFE5D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/>
          <p:nvPr/>
        </p:nvSpPr>
        <p:spPr>
          <a:xfrm>
            <a:off x="6426200" y="1892300"/>
            <a:ext cx="4853051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50" dirty="0">
                <a:solidFill>
                  <a:srgbClr val="2E7D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26200" y="2224980"/>
            <a:ext cx="4853051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4181B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Operaciones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26200" y="2661841"/>
            <a:ext cx="4853051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5D68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Mantiene servidores, infraestructura y aplicaciones funcionando.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12800" y="3715941"/>
            <a:ext cx="10883392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5D68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Tradicionalmente cada equipo trabajaba por su lado: uno quería cambiar rápido y el otro, que nada se rompa.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4000" b="1" i="0" dirty="0">
                <a:solidFill>
                  <a:srgbClr val="14181B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¿Qué es DevOps?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12800" y="1676400"/>
            <a:ext cx="10883392" cy="779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70"/>
              </a:lnSpc>
              <a:buNone/>
            </a:pPr>
            <a:r>
              <a:rPr lang="en-US" sz="2200" dirty="0">
                <a:solidFill>
                  <a:srgbClr val="14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Desarrollo y Operaciones trabajando juntos para entregar software </a:t>
            </a:r>
            <a:r>
              <a:rPr lang="en-US" sz="2200" b="1" dirty="0">
                <a:solidFill>
                  <a:srgbClr val="14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más rápido, automatizado y confiable</a:t>
            </a:r>
            <a:r>
              <a:rPr lang="en-US" sz="2200" dirty="0">
                <a:solidFill>
                  <a:srgbClr val="14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12800" y="2735461"/>
            <a:ext cx="10566400" cy="1330821"/>
          </a:xfrm>
          <a:prstGeom prst="roundRect">
            <a:avLst>
              <a:gd name="adj" fmla="val 11452"/>
            </a:avLst>
          </a:prstGeom>
          <a:solidFill>
            <a:srgbClr val="14181B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/>
          <p:nvPr/>
        </p:nvSpPr>
        <p:spPr>
          <a:xfrm>
            <a:off x="1168400" y="2989461"/>
            <a:ext cx="10150856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150" dirty="0">
                <a:solidFill>
                  <a:srgbClr val="8BE3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DEVOPS ≠ UNA HERRAMIENTA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68400" y="3314502"/>
            <a:ext cx="10150856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F2F5F0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Cultura + prácticas + herramientas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19150" y="4377432"/>
            <a:ext cx="1621334" cy="901700"/>
          </a:xfrm>
          <a:prstGeom prst="roundRect">
            <a:avLst>
              <a:gd name="adj" fmla="val 10563"/>
            </a:avLst>
          </a:prstGeom>
          <a:solidFill>
            <a:srgbClr val="FFFFFF"/>
          </a:solidFill>
          <a:ln w="12700">
            <a:solidFill>
              <a:srgbClr val="DFE5DC"/>
            </a:solidFill>
            <a:prstDash val="solid"/>
          </a:ln>
        </p:spPr>
        <p:txBody>
          <a:bodyPr wrap="square" lIns="130852" tIns="156252" rIns="130852" bIns="156252" rtlCol="0" anchor="t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Colaboración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605584" y="4377432"/>
            <a:ext cx="1621433" cy="901700"/>
          </a:xfrm>
          <a:prstGeom prst="roundRect">
            <a:avLst>
              <a:gd name="adj" fmla="val 10563"/>
            </a:avLst>
          </a:prstGeom>
          <a:solidFill>
            <a:srgbClr val="FFFFFF"/>
          </a:solidFill>
          <a:ln w="12700">
            <a:solidFill>
              <a:srgbClr val="DFE5DC"/>
            </a:solidFill>
            <a:prstDash val="solid"/>
          </a:ln>
        </p:spPr>
        <p:txBody>
          <a:bodyPr wrap="square" lIns="130852" tIns="156252" rIns="130852" bIns="130852" rtlCol="0" anchor="t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Automatización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392116" y="4377432"/>
            <a:ext cx="1621334" cy="901700"/>
          </a:xfrm>
          <a:prstGeom prst="roundRect">
            <a:avLst>
              <a:gd name="adj" fmla="val 10563"/>
            </a:avLst>
          </a:prstGeom>
          <a:solidFill>
            <a:srgbClr val="FFFFFF"/>
          </a:solidFill>
          <a:ln w="12700">
            <a:solidFill>
              <a:srgbClr val="DFE5DC"/>
            </a:solidFill>
            <a:prstDash val="solid"/>
          </a:ln>
        </p:spPr>
        <p:txBody>
          <a:bodyPr wrap="square" lIns="130852" tIns="156252" rIns="130852" bIns="156252" rtlCol="0" anchor="t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Integración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178550" y="4377432"/>
            <a:ext cx="1621433" cy="901700"/>
          </a:xfrm>
          <a:prstGeom prst="roundRect">
            <a:avLst>
              <a:gd name="adj" fmla="val 10563"/>
            </a:avLst>
          </a:prstGeom>
          <a:solidFill>
            <a:srgbClr val="FFFFFF"/>
          </a:solidFill>
          <a:ln w="12700">
            <a:solidFill>
              <a:srgbClr val="DFE5DC"/>
            </a:solidFill>
            <a:prstDash val="solid"/>
          </a:ln>
        </p:spPr>
        <p:txBody>
          <a:bodyPr wrap="square" lIns="130852" tIns="156252" rIns="130852" bIns="156252" rtlCol="0" anchor="t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Pruebas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965083" y="4377432"/>
            <a:ext cx="1621334" cy="901700"/>
          </a:xfrm>
          <a:prstGeom prst="roundRect">
            <a:avLst>
              <a:gd name="adj" fmla="val 10563"/>
            </a:avLst>
          </a:prstGeom>
          <a:solidFill>
            <a:srgbClr val="FFFFFF"/>
          </a:solidFill>
          <a:ln w="12700">
            <a:solidFill>
              <a:srgbClr val="DFE5DC"/>
            </a:solidFill>
            <a:prstDash val="solid"/>
          </a:ln>
        </p:spPr>
        <p:txBody>
          <a:bodyPr wrap="square" lIns="130852" tIns="156252" rIns="130852" bIns="156252" rtlCol="0" anchor="t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Despliegues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751516" y="4377432"/>
            <a:ext cx="1621334" cy="901700"/>
          </a:xfrm>
          <a:prstGeom prst="roundRect">
            <a:avLst>
              <a:gd name="adj" fmla="val 10563"/>
            </a:avLst>
          </a:prstGeom>
          <a:solidFill>
            <a:srgbClr val="FFFFFF"/>
          </a:solidFill>
          <a:ln w="12700">
            <a:solidFill>
              <a:srgbClr val="DFE5DC"/>
            </a:solidFill>
            <a:prstDash val="solid"/>
          </a:ln>
        </p:spPr>
        <p:txBody>
          <a:bodyPr wrap="square" lIns="130852" tIns="156252" rIns="130852" bIns="130852" rtlCol="0" anchor="t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Monitorización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4000" b="1" i="0" dirty="0">
                <a:solidFill>
                  <a:srgbClr val="F2F5F0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Los pilares de la cultura DevOps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819150" y="1657350"/>
            <a:ext cx="3390900" cy="1706860"/>
          </a:xfrm>
          <a:prstGeom prst="roundRect">
            <a:avLst>
              <a:gd name="adj" fmla="val 8557"/>
            </a:avLst>
          </a:prstGeom>
          <a:solidFill>
            <a:srgbClr val="1E2427"/>
          </a:solidFill>
          <a:ln w="12700">
            <a:solidFill>
              <a:srgbClr val="2D363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" name="Text 2"/>
          <p:cNvSpPr/>
          <p:nvPr/>
        </p:nvSpPr>
        <p:spPr>
          <a:xfrm>
            <a:off x="1054100" y="1892300"/>
            <a:ext cx="3008630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2F5F0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Colaboración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54100" y="2329160"/>
            <a:ext cx="300863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A9B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Desarrollo y operaciones comparten objetivos y responsabilidades.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400550" y="1657350"/>
            <a:ext cx="3390900" cy="1706860"/>
          </a:xfrm>
          <a:prstGeom prst="roundRect">
            <a:avLst>
              <a:gd name="adj" fmla="val 8557"/>
            </a:avLst>
          </a:prstGeom>
          <a:solidFill>
            <a:srgbClr val="1E2427"/>
          </a:solidFill>
          <a:ln w="12700">
            <a:solidFill>
              <a:srgbClr val="2D363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/>
          <p:nvPr/>
        </p:nvSpPr>
        <p:spPr>
          <a:xfrm>
            <a:off x="4635500" y="1892300"/>
            <a:ext cx="3008630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2F5F0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Automatización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635500" y="2329160"/>
            <a:ext cx="300863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A9B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 tareas repetitivas las hacen las herramientas, no las personas.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981950" y="1657350"/>
            <a:ext cx="3390900" cy="1706860"/>
          </a:xfrm>
          <a:prstGeom prst="roundRect">
            <a:avLst>
              <a:gd name="adj" fmla="val 8557"/>
            </a:avLst>
          </a:prstGeom>
          <a:solidFill>
            <a:srgbClr val="1E2427"/>
          </a:solidFill>
          <a:ln w="12700">
            <a:solidFill>
              <a:srgbClr val="2D363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0" name="Text 8"/>
          <p:cNvSpPr/>
          <p:nvPr/>
        </p:nvSpPr>
        <p:spPr>
          <a:xfrm>
            <a:off x="8216900" y="1892300"/>
            <a:ext cx="3008630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2F5F0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Mejora continua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216900" y="2329160"/>
            <a:ext cx="300863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A9B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mide, se aprende y el ciclo vuelve a empezar.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12800" y="6238280"/>
            <a:ext cx="655927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A9B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Una herramienta sola no hace DevOps: primero cambia la forma de trabajar.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4000" b="1" i="0" dirty="0">
                <a:solidFill>
                  <a:srgbClr val="14181B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¿Para qué sirve DevOps?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819150" y="1657350"/>
            <a:ext cx="2495550" cy="1775420"/>
          </a:xfrm>
          <a:prstGeom prst="roundRect">
            <a:avLst>
              <a:gd name="adj" fmla="val 8226"/>
            </a:avLst>
          </a:prstGeom>
          <a:solidFill>
            <a:srgbClr val="FFFFFF"/>
          </a:solidFill>
          <a:ln w="12700">
            <a:solidFill>
              <a:srgbClr val="DFE5D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" name="Text 2"/>
          <p:cNvSpPr/>
          <p:nvPr/>
        </p:nvSpPr>
        <p:spPr>
          <a:xfrm>
            <a:off x="1054100" y="1892300"/>
            <a:ext cx="2086419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4181B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Más rápido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54100" y="2329160"/>
            <a:ext cx="2086419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5D68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Entregas frecuentes y más chicas.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505200" y="1657350"/>
            <a:ext cx="2495550" cy="1775420"/>
          </a:xfrm>
          <a:prstGeom prst="roundRect">
            <a:avLst>
              <a:gd name="adj" fmla="val 8226"/>
            </a:avLst>
          </a:prstGeom>
          <a:solidFill>
            <a:srgbClr val="FFFFFF"/>
          </a:solidFill>
          <a:ln w="12700">
            <a:solidFill>
              <a:srgbClr val="DFE5D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/>
          <p:nvPr/>
        </p:nvSpPr>
        <p:spPr>
          <a:xfrm>
            <a:off x="3740150" y="1892300"/>
            <a:ext cx="2086419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4181B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Menos errores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740150" y="2329160"/>
            <a:ext cx="2086419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5D68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Pruebas automáticas antes de publicar.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91250" y="1657350"/>
            <a:ext cx="2495550" cy="1775420"/>
          </a:xfrm>
          <a:prstGeom prst="roundRect">
            <a:avLst>
              <a:gd name="adj" fmla="val 8226"/>
            </a:avLst>
          </a:prstGeom>
          <a:solidFill>
            <a:srgbClr val="FFFFFF"/>
          </a:solidFill>
          <a:ln w="12700">
            <a:solidFill>
              <a:srgbClr val="DFE5D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0" name="Text 8"/>
          <p:cNvSpPr/>
          <p:nvPr/>
        </p:nvSpPr>
        <p:spPr>
          <a:xfrm>
            <a:off x="6426200" y="1892300"/>
            <a:ext cx="2086419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4181B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Más confiable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426200" y="2329160"/>
            <a:ext cx="2086419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5D68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detectan y corrigen fallas a tiempo.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877300" y="1657350"/>
            <a:ext cx="2495550" cy="1775420"/>
          </a:xfrm>
          <a:prstGeom prst="roundRect">
            <a:avLst>
              <a:gd name="adj" fmla="val 8226"/>
            </a:avLst>
          </a:prstGeom>
          <a:solidFill>
            <a:srgbClr val="FFFFFF"/>
          </a:solidFill>
          <a:ln w="12700">
            <a:solidFill>
              <a:srgbClr val="DFE5D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3" name="Text 11"/>
          <p:cNvSpPr/>
          <p:nvPr/>
        </p:nvSpPr>
        <p:spPr>
          <a:xfrm>
            <a:off x="9112250" y="1892300"/>
            <a:ext cx="2086419" cy="69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4181B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Equipos alineados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112250" y="2664420"/>
            <a:ext cx="2086419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5D68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Todos trabajan hacia el mismo objetivo.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4000" b="1" i="0" dirty="0">
                <a:solidFill>
                  <a:srgbClr val="F2F5F0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Ciclo DevOps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819150" y="1631950"/>
            <a:ext cx="2514600" cy="1605161"/>
          </a:xfrm>
          <a:prstGeom prst="roundRect">
            <a:avLst>
              <a:gd name="adj" fmla="val 7516"/>
            </a:avLst>
          </a:prstGeom>
          <a:solidFill>
            <a:srgbClr val="1E2427"/>
          </a:solidFill>
          <a:ln w="12700">
            <a:solidFill>
              <a:srgbClr val="2D363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" name="Text 2"/>
          <p:cNvSpPr/>
          <p:nvPr/>
        </p:nvSpPr>
        <p:spPr>
          <a:xfrm>
            <a:off x="1028700" y="1841500"/>
            <a:ext cx="2158365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8BE3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28700" y="2166541"/>
            <a:ext cx="215836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2F5F0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PLAN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28700" y="2547541"/>
            <a:ext cx="2158365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A9B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¿Qué vamos a desarrollar?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498850" y="1631950"/>
            <a:ext cx="2514600" cy="1605161"/>
          </a:xfrm>
          <a:prstGeom prst="roundRect">
            <a:avLst>
              <a:gd name="adj" fmla="val 7516"/>
            </a:avLst>
          </a:prstGeom>
          <a:solidFill>
            <a:srgbClr val="1E2427"/>
          </a:solidFill>
          <a:ln w="12700">
            <a:solidFill>
              <a:srgbClr val="2D363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/>
          <p:nvPr/>
        </p:nvSpPr>
        <p:spPr>
          <a:xfrm>
            <a:off x="3708400" y="1841500"/>
            <a:ext cx="2158365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8BE3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708400" y="2166541"/>
            <a:ext cx="215836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2F5F0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CODE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08400" y="2547541"/>
            <a:ext cx="2158365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A9B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Escribimos el código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78550" y="1631950"/>
            <a:ext cx="2514600" cy="1605161"/>
          </a:xfrm>
          <a:prstGeom prst="roundRect">
            <a:avLst>
              <a:gd name="adj" fmla="val 7516"/>
            </a:avLst>
          </a:prstGeom>
          <a:solidFill>
            <a:srgbClr val="1E2427"/>
          </a:solidFill>
          <a:ln w="12700">
            <a:solidFill>
              <a:srgbClr val="2D363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2" name="Text 10"/>
          <p:cNvSpPr/>
          <p:nvPr/>
        </p:nvSpPr>
        <p:spPr>
          <a:xfrm>
            <a:off x="6388100" y="1841500"/>
            <a:ext cx="2158365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8BE3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388100" y="2166541"/>
            <a:ext cx="215836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2F5F0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BUILD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388100" y="2547541"/>
            <a:ext cx="2158365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A9B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Preparamos la aplicación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858250" y="1631950"/>
            <a:ext cx="2514600" cy="1605161"/>
          </a:xfrm>
          <a:prstGeom prst="roundRect">
            <a:avLst>
              <a:gd name="adj" fmla="val 7516"/>
            </a:avLst>
          </a:prstGeom>
          <a:solidFill>
            <a:srgbClr val="1E2427"/>
          </a:solidFill>
          <a:ln w="12700">
            <a:solidFill>
              <a:srgbClr val="2D363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6" name="Text 14"/>
          <p:cNvSpPr/>
          <p:nvPr/>
        </p:nvSpPr>
        <p:spPr>
          <a:xfrm>
            <a:off x="9067800" y="1841500"/>
            <a:ext cx="2158365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8BE3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067800" y="2166541"/>
            <a:ext cx="215836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2F5F0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TEST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067800" y="2547541"/>
            <a:ext cx="2158365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A9B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Probamos que funcione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19150" y="3503811"/>
            <a:ext cx="2514600" cy="1605161"/>
          </a:xfrm>
          <a:prstGeom prst="roundRect">
            <a:avLst>
              <a:gd name="adj" fmla="val 7516"/>
            </a:avLst>
          </a:prstGeom>
          <a:solidFill>
            <a:srgbClr val="1E2427"/>
          </a:solidFill>
          <a:ln w="12700">
            <a:solidFill>
              <a:srgbClr val="2D363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0" name="Text 18"/>
          <p:cNvSpPr/>
          <p:nvPr/>
        </p:nvSpPr>
        <p:spPr>
          <a:xfrm>
            <a:off x="1028700" y="3713361"/>
            <a:ext cx="2158365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8BE3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28700" y="4038402"/>
            <a:ext cx="215836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2F5F0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RELEASE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028700" y="4419402"/>
            <a:ext cx="2158365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A9B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Creamos una versión: v1.0, v1.1…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498850" y="3503811"/>
            <a:ext cx="2514600" cy="1605161"/>
          </a:xfrm>
          <a:prstGeom prst="roundRect">
            <a:avLst>
              <a:gd name="adj" fmla="val 7516"/>
            </a:avLst>
          </a:prstGeom>
          <a:solidFill>
            <a:srgbClr val="1E2427"/>
          </a:solidFill>
          <a:ln w="12700">
            <a:solidFill>
              <a:srgbClr val="2D363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4" name="Text 22"/>
          <p:cNvSpPr/>
          <p:nvPr/>
        </p:nvSpPr>
        <p:spPr>
          <a:xfrm>
            <a:off x="3708400" y="3713361"/>
            <a:ext cx="2158365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8BE3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708400" y="4038402"/>
            <a:ext cx="215836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2F5F0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DEPLOY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3708400" y="4419402"/>
            <a:ext cx="2158365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A9B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publicamos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178550" y="3503811"/>
            <a:ext cx="2514600" cy="1605161"/>
          </a:xfrm>
          <a:prstGeom prst="roundRect">
            <a:avLst>
              <a:gd name="adj" fmla="val 7516"/>
            </a:avLst>
          </a:prstGeom>
          <a:solidFill>
            <a:srgbClr val="1E2427"/>
          </a:solidFill>
          <a:ln w="12700">
            <a:solidFill>
              <a:srgbClr val="2D363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8" name="Text 26"/>
          <p:cNvSpPr/>
          <p:nvPr/>
        </p:nvSpPr>
        <p:spPr>
          <a:xfrm>
            <a:off x="6388100" y="3713361"/>
            <a:ext cx="2158365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8BE3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388100" y="4038402"/>
            <a:ext cx="215836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2F5F0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OPERATE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6388100" y="4419402"/>
            <a:ext cx="2158365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A9B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Queda funcionando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8858250" y="3503811"/>
            <a:ext cx="2514600" cy="1605161"/>
          </a:xfrm>
          <a:prstGeom prst="roundRect">
            <a:avLst>
              <a:gd name="adj" fmla="val 7516"/>
            </a:avLst>
          </a:prstGeom>
          <a:solidFill>
            <a:srgbClr val="1E2427"/>
          </a:solidFill>
          <a:ln w="12700">
            <a:solidFill>
              <a:srgbClr val="2D363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2" name="Text 30"/>
          <p:cNvSpPr/>
          <p:nvPr/>
        </p:nvSpPr>
        <p:spPr>
          <a:xfrm>
            <a:off x="9067800" y="3713361"/>
            <a:ext cx="2158365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8BE3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067800" y="4038402"/>
            <a:ext cx="215836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2F5F0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MONITOR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9067800" y="4419402"/>
            <a:ext cx="2158365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A9B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Errores, CPU, memoria, logs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12800" y="6238280"/>
            <a:ext cx="287643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A9B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 el ciclo empieza nuevamente ↺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4000" b="1" i="0" dirty="0">
                <a:solidFill>
                  <a:srgbClr val="F2F5F0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Herramientas del camino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819150" y="1657350"/>
            <a:ext cx="1694160" cy="947341"/>
          </a:xfrm>
          <a:prstGeom prst="roundRect">
            <a:avLst>
              <a:gd name="adj" fmla="val 12736"/>
            </a:avLst>
          </a:prstGeom>
          <a:solidFill>
            <a:srgbClr val="1E2427"/>
          </a:solidFill>
          <a:ln w="12700">
            <a:solidFill>
              <a:srgbClr val="2D363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" name="Text 2"/>
          <p:cNvSpPr/>
          <p:nvPr/>
        </p:nvSpPr>
        <p:spPr>
          <a:xfrm>
            <a:off x="927100" y="1866900"/>
            <a:ext cx="1478260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F2F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Código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27100" y="2131020"/>
            <a:ext cx="1478260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F2F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 / GitHub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621260" y="1917700"/>
            <a:ext cx="36576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8BE3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034010" y="1789410"/>
            <a:ext cx="1694259" cy="683220"/>
          </a:xfrm>
          <a:prstGeom prst="roundRect">
            <a:avLst>
              <a:gd name="adj" fmla="val 17659"/>
            </a:avLst>
          </a:prstGeom>
          <a:solidFill>
            <a:srgbClr val="1E2427"/>
          </a:solidFill>
          <a:ln w="12700">
            <a:solidFill>
              <a:srgbClr val="2D363A"/>
            </a:solidFill>
            <a:prstDash val="solid"/>
          </a:ln>
        </p:spPr>
        <p:txBody>
          <a:bodyPr wrap="square" lIns="72613" tIns="174213" rIns="72613" bIns="148813" rtlCol="0" anchor="t">
            <a:normAutofit/>
          </a:bodyPr>
          <a:lstStyle/>
          <a:p>
            <a:pPr marL="0" indent="0" algn="ctr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F2F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CI/CD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836220" y="1917700"/>
            <a:ext cx="36576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8BE3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248970" y="1789410"/>
            <a:ext cx="1694160" cy="683220"/>
          </a:xfrm>
          <a:prstGeom prst="roundRect">
            <a:avLst>
              <a:gd name="adj" fmla="val 17659"/>
            </a:avLst>
          </a:prstGeom>
          <a:solidFill>
            <a:srgbClr val="1E2427"/>
          </a:solidFill>
          <a:ln w="12700">
            <a:solidFill>
              <a:srgbClr val="2D363A"/>
            </a:solidFill>
            <a:prstDash val="solid"/>
          </a:ln>
        </p:spPr>
        <p:txBody>
          <a:bodyPr wrap="square" lIns="72613" tIns="174213" rIns="72613" bIns="148813" rtlCol="0" anchor="t">
            <a:normAutofit/>
          </a:bodyPr>
          <a:lstStyle/>
          <a:p>
            <a:pPr marL="0" indent="0" algn="ctr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F2F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Docker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051080" y="1917700"/>
            <a:ext cx="36576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8BE3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7463830" y="1657350"/>
            <a:ext cx="1694160" cy="947341"/>
          </a:xfrm>
          <a:prstGeom prst="roundRect">
            <a:avLst>
              <a:gd name="adj" fmla="val 12736"/>
            </a:avLst>
          </a:prstGeom>
          <a:solidFill>
            <a:srgbClr val="1E2427"/>
          </a:solidFill>
          <a:ln w="12700">
            <a:solidFill>
              <a:srgbClr val="2D363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2" name="Text 10"/>
          <p:cNvSpPr/>
          <p:nvPr/>
        </p:nvSpPr>
        <p:spPr>
          <a:xfrm>
            <a:off x="7571780" y="1866900"/>
            <a:ext cx="1478260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F2F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571780" y="2131020"/>
            <a:ext cx="1478260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F2F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AWS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265940" y="1917700"/>
            <a:ext cx="36576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8BE3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678690" y="1789410"/>
            <a:ext cx="1694160" cy="683220"/>
          </a:xfrm>
          <a:prstGeom prst="roundRect">
            <a:avLst>
              <a:gd name="adj" fmla="val 17659"/>
            </a:avLst>
          </a:prstGeom>
          <a:solidFill>
            <a:srgbClr val="1E2427"/>
          </a:solidFill>
          <a:ln w="12700">
            <a:solidFill>
              <a:srgbClr val="2D363A"/>
            </a:solidFill>
            <a:prstDash val="solid"/>
          </a:ln>
        </p:spPr>
        <p:txBody>
          <a:bodyPr wrap="square" lIns="72613" tIns="174213" rIns="72613" bIns="148813" rtlCol="0" anchor="t">
            <a:normAutofit/>
          </a:bodyPr>
          <a:lstStyle/>
          <a:p>
            <a:pPr marL="0" indent="0" algn="ctr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F2F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12800" y="2890441"/>
            <a:ext cx="108833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A9B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Hoy solo las nombramos: en estas dos clases vemos cómo se conectan entre sí.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4000" b="1" i="0" dirty="0">
                <a:solidFill>
                  <a:srgbClr val="14181B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Herramientas y para qué sirven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812800" y="1651000"/>
            <a:ext cx="6985000" cy="4155281"/>
          </a:xfrm>
          <a:prstGeom prst="roundRect">
            <a:avLst>
              <a:gd name="adj" fmla="val 244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4" name="Shape 2"/>
          <p:cNvSpPr/>
          <p:nvPr/>
        </p:nvSpPr>
        <p:spPr>
          <a:xfrm>
            <a:off x="812800" y="1651000"/>
            <a:ext cx="6985000" cy="4155281"/>
          </a:xfrm>
          <a:custGeom>
            <a:avLst/>
            <a:gdLst/>
            <a:ahLst/>
            <a:cxnLst/>
            <a:rect l="l" t="t" r="r" b="b"/>
            <a:pathLst>
              <a:path w="6985000" h="4155281">
                <a:moveTo>
                  <a:pt x="101600" y="4155281"/>
                </a:moveTo>
                <a:lnTo>
                  <a:pt x="101600" y="4155281"/>
                </a:lnTo>
                <a:arcTo wR="101600" hR="101600" stAng="5400000" swAng="5400000"/>
                <a:lnTo>
                  <a:pt x="0" y="101600"/>
                </a:lnTo>
                <a:arcTo wR="101600" hR="101600" stAng="10800000" swAng="5400000"/>
                <a:lnTo>
                  <a:pt x="6883400" y="0"/>
                </a:lnTo>
                <a:arcTo wR="101600" hR="101600" stAng="16200000" swAng="5400000"/>
                <a:lnTo>
                  <a:pt x="6985000" y="101600"/>
                </a:lnTo>
                <a:arcTo wR="101600" hR="88900" stAng="0" swAng="-5400000"/>
                <a:lnTo>
                  <a:pt x="101600" y="12700"/>
                </a:lnTo>
                <a:arcTo wR="88900" hR="88900" stAng="16200000" swAng="-5400000"/>
                <a:lnTo>
                  <a:pt x="12700" y="4053681"/>
                </a:lnTo>
                <a:arcTo wR="88900" hR="101600" stAng="10800000" swAng="-5400000"/>
                <a:close/>
              </a:path>
            </a:pathLst>
          </a:custGeom>
          <a:solidFill>
            <a:srgbClr val="141413">
              <a:alpha val="22000"/>
            </a:srgbClr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" name="Shape 3"/>
          <p:cNvSpPr/>
          <p:nvPr/>
        </p:nvSpPr>
        <p:spPr>
          <a:xfrm>
            <a:off x="825500" y="1663700"/>
            <a:ext cx="6972300" cy="551160"/>
          </a:xfrm>
          <a:custGeom>
            <a:avLst/>
            <a:gdLst/>
            <a:ahLst/>
            <a:cxnLst/>
            <a:rect l="l" t="t" r="r" b="b"/>
            <a:pathLst>
              <a:path w="6972300" h="551160">
                <a:moveTo>
                  <a:pt x="0" y="88900"/>
                </a:moveTo>
                <a:arcTo wR="88900" hR="88900" stAng="10800000" swAng="5400000"/>
                <a:lnTo>
                  <a:pt x="6870700" y="0"/>
                </a:lnTo>
                <a:arcTo wR="101600" hR="101600" stAng="16200000" swAng="5400000"/>
                <a:lnTo>
                  <a:pt x="6972300" y="551160"/>
                </a:lnTo>
                <a:lnTo>
                  <a:pt x="0" y="551160"/>
                </a:lnTo>
                <a:close/>
              </a:path>
            </a:pathLst>
          </a:custGeom>
          <a:solidFill>
            <a:srgbClr val="ECECEC"/>
          </a:solidFill>
          <a:ln/>
        </p:spPr>
        <p:txBody>
          <a:bodyPr/>
          <a:lstStyle/>
          <a:p>
            <a:endParaRPr lang="es-AR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663700"/>
          <a:ext cx="6972300" cy="4142580"/>
        </p:xfrm>
        <a:graphic>
          <a:graphicData uri="http://schemas.openxmlformats.org/drawingml/2006/table">
            <a:tbl>
              <a:tblPr/>
              <a:tblGrid>
                <a:gridCol w="3486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86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1160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D3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Herramienta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7800" marR="177800" marT="127000" marB="12700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D3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Para qué sirve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7800" marR="177800" marT="127000" marB="127000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1160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18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Git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7800" marR="177800" marT="127000" marB="12700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18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Versionar código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7800" marR="177800" marT="127000" marB="1270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5620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18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GitHub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7800" marR="177800" marT="127000" marB="12700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18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Guardar el código en un repositorio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7800" marR="177800" marT="127000" marB="1270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1160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18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Docker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7800" marR="177800" marT="127000" marB="12700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18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Crear y ejecutar contenedores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7800" marR="177800" marT="127000" marB="1270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1160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18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GitHub Actions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7800" marR="177800" marT="127000" marB="12700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18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Automatización CI/CD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7800" marR="177800" marT="127000" marB="1270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1160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18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AWS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7800" marR="177800" marT="127000" marB="12700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18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Infraestructura cloud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7800" marR="177800" marT="127000" marB="1270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1160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18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CloudWatch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7800" marR="177800" marT="127000" marB="12700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18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Monitoreo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7800" marR="177800" marT="127000" marB="1270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4000" b="1" i="0" dirty="0">
                <a:solidFill>
                  <a:srgbClr val="F2F5F0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Git: versionar el código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19150" y="1657350"/>
            <a:ext cx="1694160" cy="683220"/>
          </a:xfrm>
          <a:prstGeom prst="roundRect">
            <a:avLst>
              <a:gd name="adj" fmla="val 17659"/>
            </a:avLst>
          </a:prstGeom>
          <a:solidFill>
            <a:srgbClr val="1E2427"/>
          </a:solidFill>
          <a:ln w="12700">
            <a:solidFill>
              <a:srgbClr val="2D363A"/>
            </a:solidFill>
            <a:prstDash val="solid"/>
          </a:ln>
        </p:spPr>
        <p:txBody>
          <a:bodyPr wrap="square" lIns="72613" tIns="174213" rIns="72613" bIns="148813" rtlCol="0" anchor="t">
            <a:normAutofit/>
          </a:bodyPr>
          <a:lstStyle/>
          <a:p>
            <a:pPr marL="0" indent="0" algn="ctr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F2F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Código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621260" y="1785640"/>
            <a:ext cx="36576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8BE3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034010" y="1657350"/>
            <a:ext cx="1694259" cy="683220"/>
          </a:xfrm>
          <a:prstGeom prst="roundRect">
            <a:avLst>
              <a:gd name="adj" fmla="val 17659"/>
            </a:avLst>
          </a:prstGeom>
          <a:solidFill>
            <a:srgbClr val="1E2427"/>
          </a:solidFill>
          <a:ln w="12700">
            <a:solidFill>
              <a:srgbClr val="2D363A"/>
            </a:solidFill>
            <a:prstDash val="solid"/>
          </a:ln>
        </p:spPr>
        <p:txBody>
          <a:bodyPr wrap="square" lIns="72613" tIns="174213" rIns="72613" bIns="148813" rtlCol="0" anchor="t">
            <a:normAutofit/>
          </a:bodyPr>
          <a:lstStyle/>
          <a:p>
            <a:pPr marL="0" indent="0" algn="ctr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F2F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 add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836220" y="1785640"/>
            <a:ext cx="36576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8BE3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248970" y="1657350"/>
            <a:ext cx="1694160" cy="683220"/>
          </a:xfrm>
          <a:prstGeom prst="roundRect">
            <a:avLst>
              <a:gd name="adj" fmla="val 17659"/>
            </a:avLst>
          </a:prstGeom>
          <a:solidFill>
            <a:srgbClr val="1E2427"/>
          </a:solidFill>
          <a:ln w="12700">
            <a:solidFill>
              <a:srgbClr val="2D363A"/>
            </a:solidFill>
            <a:prstDash val="solid"/>
          </a:ln>
        </p:spPr>
        <p:txBody>
          <a:bodyPr wrap="square" lIns="72613" tIns="174213" rIns="72613" bIns="148813" rtlCol="0" anchor="t">
            <a:normAutofit/>
          </a:bodyPr>
          <a:lstStyle/>
          <a:p>
            <a:pPr marL="0" indent="0" algn="ctr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F2F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 commit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051080" y="1785640"/>
            <a:ext cx="36576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8BE3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463830" y="1657350"/>
            <a:ext cx="1694160" cy="683220"/>
          </a:xfrm>
          <a:prstGeom prst="roundRect">
            <a:avLst>
              <a:gd name="adj" fmla="val 17659"/>
            </a:avLst>
          </a:prstGeom>
          <a:solidFill>
            <a:srgbClr val="1E2427"/>
          </a:solidFill>
          <a:ln w="12700">
            <a:solidFill>
              <a:srgbClr val="2D363A"/>
            </a:solidFill>
            <a:prstDash val="solid"/>
          </a:ln>
        </p:spPr>
        <p:txBody>
          <a:bodyPr wrap="square" lIns="72613" tIns="174213" rIns="72613" bIns="148813" rtlCol="0" anchor="t">
            <a:normAutofit/>
          </a:bodyPr>
          <a:lstStyle/>
          <a:p>
            <a:pPr marL="0" indent="0" algn="ctr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F2F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 push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265940" y="1785640"/>
            <a:ext cx="36576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8BE3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678690" y="1657350"/>
            <a:ext cx="1694160" cy="683220"/>
          </a:xfrm>
          <a:prstGeom prst="roundRect">
            <a:avLst>
              <a:gd name="adj" fmla="val 17659"/>
            </a:avLst>
          </a:prstGeom>
          <a:solidFill>
            <a:srgbClr val="8BE37F"/>
          </a:solidFill>
          <a:ln w="12700">
            <a:solidFill>
              <a:srgbClr val="2D363A"/>
            </a:solidFill>
            <a:prstDash val="solid"/>
          </a:ln>
        </p:spPr>
        <p:txBody>
          <a:bodyPr wrap="square" lIns="72613" tIns="174213" rIns="72613" bIns="148813" rtlCol="0" anchor="t">
            <a:normAutofit/>
          </a:bodyPr>
          <a:lstStyle/>
          <a:p>
            <a:pPr marL="0" indent="0" algn="ctr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4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12800" y="2626320"/>
            <a:ext cx="11379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A9B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código debe estar versionado: cada cambio queda registrado y se puede recuperar.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4000" b="1" i="0" dirty="0">
                <a:solidFill>
                  <a:srgbClr val="14181B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Git: comandos básicos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812800" y="1651000"/>
            <a:ext cx="5448300" cy="3812480"/>
          </a:xfrm>
          <a:prstGeom prst="roundRect">
            <a:avLst>
              <a:gd name="adj" fmla="val 3997"/>
            </a:avLst>
          </a:prstGeom>
          <a:solidFill>
            <a:srgbClr val="1E2427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4" name="Text 2"/>
          <p:cNvSpPr/>
          <p:nvPr/>
        </p:nvSpPr>
        <p:spPr>
          <a:xfrm>
            <a:off x="1066800" y="1905000"/>
            <a:ext cx="5088509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50" dirty="0">
                <a:solidFill>
                  <a:srgbClr val="2E7D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TERMINAL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66800" y="2237680"/>
            <a:ext cx="5088509" cy="2300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60"/>
              </a:lnSpc>
              <a:buNone/>
            </a:pPr>
            <a:r>
              <a:rPr lang="en-US" sz="1600" dirty="0">
                <a:solidFill>
                  <a:srgbClr val="F2F5F0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git init</a:t>
            </a:r>
            <a:endParaRPr lang="en-US" sz="1600" dirty="0"/>
          </a:p>
          <a:p>
            <a:pPr marL="0" indent="0" algn="l">
              <a:lnSpc>
                <a:spcPts val="2560"/>
              </a:lnSpc>
              <a:buNone/>
            </a:pPr>
            <a:endParaRPr lang="en-US" sz="1600" dirty="0"/>
          </a:p>
          <a:p>
            <a:pPr marL="0" indent="0" algn="l">
              <a:lnSpc>
                <a:spcPts val="2560"/>
              </a:lnSpc>
              <a:buNone/>
            </a:pPr>
            <a:r>
              <a:rPr lang="en-US" sz="1600" dirty="0">
                <a:solidFill>
                  <a:srgbClr val="F2F5F0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git add .</a:t>
            </a:r>
            <a:endParaRPr lang="en-US" sz="1600" dirty="0"/>
          </a:p>
          <a:p>
            <a:pPr marL="0" indent="0" algn="l">
              <a:lnSpc>
                <a:spcPts val="2560"/>
              </a:lnSpc>
              <a:buNone/>
            </a:pPr>
            <a:endParaRPr lang="en-US" sz="1600" dirty="0"/>
          </a:p>
          <a:p>
            <a:pPr marL="0" indent="0" algn="l">
              <a:lnSpc>
                <a:spcPts val="2560"/>
              </a:lnSpc>
              <a:buNone/>
            </a:pPr>
            <a:r>
              <a:rPr lang="en-US" sz="1600" dirty="0">
                <a:solidFill>
                  <a:srgbClr val="F2F5F0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git commit -m "Primera version"</a:t>
            </a:r>
            <a:endParaRPr lang="en-US" sz="1600" dirty="0"/>
          </a:p>
          <a:p>
            <a:pPr marL="0" indent="0" algn="l">
              <a:lnSpc>
                <a:spcPts val="2560"/>
              </a:lnSpc>
              <a:buNone/>
            </a:pPr>
            <a:endParaRPr lang="en-US" sz="1600" dirty="0"/>
          </a:p>
          <a:p>
            <a:pPr marL="0" indent="0" algn="l">
              <a:lnSpc>
                <a:spcPts val="2560"/>
              </a:lnSpc>
              <a:buNone/>
            </a:pPr>
            <a:r>
              <a:rPr lang="en-US" sz="1600" dirty="0">
                <a:solidFill>
                  <a:srgbClr val="F2F5F0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git push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45250" y="1657350"/>
            <a:ext cx="4927600" cy="1173460"/>
          </a:xfrm>
          <a:prstGeom prst="roundRect">
            <a:avLst>
              <a:gd name="adj" fmla="val 12446"/>
            </a:avLst>
          </a:prstGeom>
          <a:solidFill>
            <a:srgbClr val="FFFFFF"/>
          </a:solidFill>
          <a:ln w="12700">
            <a:solidFill>
              <a:srgbClr val="DFE5D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/>
          <p:nvPr/>
        </p:nvSpPr>
        <p:spPr>
          <a:xfrm>
            <a:off x="6680200" y="1892300"/>
            <a:ext cx="4591431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4181B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init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680200" y="2329160"/>
            <a:ext cx="4591431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5D68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 el repositorio.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45250" y="2970510"/>
            <a:ext cx="4927600" cy="1173460"/>
          </a:xfrm>
          <a:prstGeom prst="roundRect">
            <a:avLst>
              <a:gd name="adj" fmla="val 12446"/>
            </a:avLst>
          </a:prstGeom>
          <a:solidFill>
            <a:srgbClr val="FFFFFF"/>
          </a:solidFill>
          <a:ln w="12700">
            <a:solidFill>
              <a:srgbClr val="DFE5D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0" name="Text 8"/>
          <p:cNvSpPr/>
          <p:nvPr/>
        </p:nvSpPr>
        <p:spPr>
          <a:xfrm>
            <a:off x="6680200" y="3205460"/>
            <a:ext cx="4591431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4181B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add / commit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680200" y="3642320"/>
            <a:ext cx="4591431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5D68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Prepara y guarda una versión.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45250" y="4283670"/>
            <a:ext cx="4927600" cy="1173460"/>
          </a:xfrm>
          <a:prstGeom prst="roundRect">
            <a:avLst>
              <a:gd name="adj" fmla="val 12446"/>
            </a:avLst>
          </a:prstGeom>
          <a:solidFill>
            <a:srgbClr val="FFFFFF"/>
          </a:solidFill>
          <a:ln w="12700">
            <a:solidFill>
              <a:srgbClr val="DFE5D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3" name="Text 11"/>
          <p:cNvSpPr/>
          <p:nvPr/>
        </p:nvSpPr>
        <p:spPr>
          <a:xfrm>
            <a:off x="6680200" y="4518620"/>
            <a:ext cx="4591431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4181B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push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680200" y="4955480"/>
            <a:ext cx="4591431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5D68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Sube el código a GitHub.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2208014"/>
            <a:ext cx="10883392" cy="1690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370"/>
              </a:lnSpc>
              <a:buNone/>
            </a:pPr>
            <a:r>
              <a:rPr lang="en-US" sz="3800" b="1" i="0" dirty="0">
                <a:solidFill>
                  <a:srgbClr val="F2F5F0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Tenemos nuestro código en GitHub. ¿Cómo hacemos para que funcione igual en cualquier computadora?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812800" y="4126805"/>
            <a:ext cx="10883392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E4EF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Instalar dependencias · configurar el servidor · instalar programas · configurar versiones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35560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8BE3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PRÁCTICA 1 · PORTFOLIO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4000" b="1" i="0" dirty="0">
                <a:solidFill>
                  <a:srgbClr val="F2F5F0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Tu primer portfolio DevOps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12800" y="1651000"/>
            <a:ext cx="10883392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60"/>
              </a:lnSpc>
              <a:buNone/>
            </a:pPr>
            <a:r>
              <a:rPr lang="en-US" sz="1900" dirty="0">
                <a:solidFill>
                  <a:srgbClr val="A9B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Generado con IA · publicado en la web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819150" y="2274491"/>
            <a:ext cx="5181600" cy="1297781"/>
          </a:xfrm>
          <a:prstGeom prst="roundRect">
            <a:avLst>
              <a:gd name="adj" fmla="val 11254"/>
            </a:avLst>
          </a:prstGeom>
          <a:solidFill>
            <a:srgbClr val="1E2427"/>
          </a:solidFill>
          <a:ln w="12700">
            <a:solidFill>
              <a:srgbClr val="2D363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/>
          <p:nvPr/>
        </p:nvSpPr>
        <p:spPr>
          <a:xfrm>
            <a:off x="1028700" y="2484041"/>
            <a:ext cx="49053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b="1" dirty="0" err="1">
                <a:solidFill>
                  <a:srgbClr val="F2F5F0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Usás</a:t>
            </a:r>
            <a:r>
              <a:rPr lang="en-US" sz="2000" b="1" dirty="0">
                <a:solidFill>
                  <a:srgbClr val="F2F5F0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 </a:t>
            </a:r>
            <a:r>
              <a:rPr lang="en-US" sz="2000" b="1" dirty="0" err="1">
                <a:solidFill>
                  <a:srgbClr val="F2F5F0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una</a:t>
            </a:r>
            <a:r>
              <a:rPr lang="en-US" sz="2000" b="1" dirty="0">
                <a:solidFill>
                  <a:srgbClr val="F2F5F0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 IA por primera vez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28700" y="2865041"/>
            <a:ext cx="4905375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A9B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Vas a ver cómo la IA genera código real (HTML y CSS) desde un prompt que vos escribís.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91250" y="2274491"/>
            <a:ext cx="5181600" cy="1297781"/>
          </a:xfrm>
          <a:prstGeom prst="roundRect">
            <a:avLst>
              <a:gd name="adj" fmla="val 11254"/>
            </a:avLst>
          </a:prstGeom>
          <a:solidFill>
            <a:srgbClr val="1E2427"/>
          </a:solidFill>
          <a:ln w="12700">
            <a:solidFill>
              <a:srgbClr val="2D363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Text 7"/>
          <p:cNvSpPr/>
          <p:nvPr/>
        </p:nvSpPr>
        <p:spPr>
          <a:xfrm>
            <a:off x="6400800" y="2484041"/>
            <a:ext cx="49053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F2F5F0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Publicás algo en internet hoy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00800" y="2865041"/>
            <a:ext cx="4905375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A9B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 tu nombre y una URL propia que podés compartir en LinkedIn.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9150" y="3864372"/>
            <a:ext cx="5181600" cy="1297781"/>
          </a:xfrm>
          <a:prstGeom prst="roundRect">
            <a:avLst>
              <a:gd name="adj" fmla="val 11254"/>
            </a:avLst>
          </a:prstGeom>
          <a:solidFill>
            <a:srgbClr val="1E2427"/>
          </a:solidFill>
          <a:ln w="12700">
            <a:solidFill>
              <a:srgbClr val="2D363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2" name="Text 10"/>
          <p:cNvSpPr/>
          <p:nvPr/>
        </p:nvSpPr>
        <p:spPr>
          <a:xfrm>
            <a:off x="1028700" y="4073922"/>
            <a:ext cx="49657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F2F5F0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Abrís tu primer repositorio en GitHub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28700" y="4454922"/>
            <a:ext cx="4905375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A9B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lugar donde vas a versionar el código de todo el curso.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91250" y="3864372"/>
            <a:ext cx="5181600" cy="1297781"/>
          </a:xfrm>
          <a:prstGeom prst="roundRect">
            <a:avLst>
              <a:gd name="adj" fmla="val 11254"/>
            </a:avLst>
          </a:prstGeom>
          <a:solidFill>
            <a:srgbClr val="1E2427"/>
          </a:solidFill>
          <a:ln w="12700">
            <a:solidFill>
              <a:srgbClr val="2D363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5" name="Text 13"/>
          <p:cNvSpPr/>
          <p:nvPr/>
        </p:nvSpPr>
        <p:spPr>
          <a:xfrm>
            <a:off x="6400800" y="4073922"/>
            <a:ext cx="49053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F2F5F0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Aprendés prompting desde el día 1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400800" y="4454922"/>
            <a:ext cx="4905375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A9B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Pedirle bien a una IA lo que necesitás es una habilidad tan importante como programar.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35560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2E7D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PRÁCTICA 1 · PORTFOLIO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4000" b="1" i="0" dirty="0">
                <a:solidFill>
                  <a:srgbClr val="14181B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Paso 1: escribí el prompt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12800" y="1651000"/>
            <a:ext cx="10566400" cy="3479800"/>
          </a:xfrm>
          <a:prstGeom prst="roundRect">
            <a:avLst>
              <a:gd name="adj" fmla="val 4380"/>
            </a:avLst>
          </a:prstGeom>
          <a:solidFill>
            <a:srgbClr val="0D1012"/>
          </a:solidFill>
          <a:ln/>
        </p:spPr>
        <p:txBody>
          <a:bodyPr wrap="square" lIns="209364" tIns="209364" rIns="0" bIns="183964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2F5F0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Actúa como un desarrollador web senior. Crea un portfolio personal de una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2F5F0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sola página en HTML, CSS y JavaScript con estas características: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2F5F0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- Mi nombre es </a:t>
            </a:r>
            <a:r>
              <a:rPr lang="en-US" sz="1200" dirty="0">
                <a:solidFill>
                  <a:srgbClr val="8BE37F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[TU NOMBRE]</a:t>
            </a:r>
            <a:r>
              <a:rPr lang="en-US" sz="1200" dirty="0">
                <a:solidFill>
                  <a:srgbClr val="F2F5F0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 y estoy aprendiendo DevOps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2F5F0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- Sección 'Sobre mí': soy </a:t>
            </a:r>
            <a:r>
              <a:rPr lang="en-US" sz="1200" dirty="0">
                <a:solidFill>
                  <a:srgbClr val="8BE37F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[DEV / SYSADMIN / ESTUDIANTE]</a:t>
            </a:r>
            <a:r>
              <a:rPr lang="en-US" sz="1200" dirty="0">
                <a:solidFill>
                  <a:srgbClr val="F2F5F0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 y arranco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2F5F0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</a:t>
            </a:r>
            <a:r>
              <a:rPr lang="en-US" sz="1200" dirty="0" err="1">
                <a:solidFill>
                  <a:srgbClr val="F2F5F0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esta</a:t>
            </a:r>
            <a:r>
              <a:rPr lang="en-US" sz="1200" dirty="0">
                <a:solidFill>
                  <a:srgbClr val="F2F5F0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 </a:t>
            </a:r>
            <a:r>
              <a:rPr lang="en-US" sz="1200" dirty="0" err="1">
                <a:solidFill>
                  <a:srgbClr val="F2F5F0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microcredencial</a:t>
            </a:r>
            <a:r>
              <a:rPr lang="en-US" sz="1200" dirty="0">
                <a:solidFill>
                  <a:srgbClr val="F2F5F0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 </a:t>
            </a:r>
            <a:r>
              <a:rPr lang="en-US" sz="1200" dirty="0" err="1">
                <a:solidFill>
                  <a:srgbClr val="F2F5F0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porque</a:t>
            </a:r>
            <a:r>
              <a:rPr lang="en-US" sz="1200" dirty="0">
                <a:solidFill>
                  <a:srgbClr val="F2F5F0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 </a:t>
            </a:r>
            <a:r>
              <a:rPr lang="en-US" sz="1200" dirty="0">
                <a:solidFill>
                  <a:srgbClr val="8BE37F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[TU RAZÓN EN 1 FRASE]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2F5F0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- Sección 'Skills que voy a aprender': Git, Docker, AWS.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2F5F0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- Sección 'Proyectos': 3 proyectos vacíos con placeholders, estilo card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2F5F0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- Diseño oscuro, moderno, con acento en verde (#4CAF50), responsive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2F5F0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- Un footer con mi usuario de GitHub: github.com/</a:t>
            </a:r>
            <a:r>
              <a:rPr lang="en-US" sz="1200" dirty="0">
                <a:solidFill>
                  <a:srgbClr val="8BE37F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[TU-USUARIO]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2F5F0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Dame el HTML completo en un solo archivo. Todo el CSS y JS embebido.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2F5F0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Sin dependencias externas. Que funcione al abrir el archivo directo.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12800" y="6238280"/>
            <a:ext cx="11379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D68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Reemplazá los textos entre [corchetes] con tus datos. Si no te gusta el resultado, pedí: «hacelo más moderno» o «cambiá los colores».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35560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8BE3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PRÁCTICA 1 · PORTFOLIO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4000" b="1" i="0" dirty="0">
                <a:solidFill>
                  <a:srgbClr val="F2F5F0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Paso 2: publicar en GitHub Pages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12800" y="1651000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A9B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Todo desde el navegador, sin línea de comandos.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19150" y="2221210"/>
            <a:ext cx="3390900" cy="1449487"/>
          </a:xfrm>
          <a:prstGeom prst="roundRect">
            <a:avLst>
              <a:gd name="adj" fmla="val 10076"/>
            </a:avLst>
          </a:prstGeom>
          <a:solidFill>
            <a:srgbClr val="1E2427"/>
          </a:solidFill>
          <a:ln w="12700">
            <a:solidFill>
              <a:srgbClr val="2D363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/>
          <p:nvPr/>
        </p:nvSpPr>
        <p:spPr>
          <a:xfrm>
            <a:off x="1028700" y="2430760"/>
            <a:ext cx="3060954" cy="2736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5"/>
              </a:lnSpc>
              <a:buNone/>
            </a:pPr>
            <a:r>
              <a:rPr lang="en-US" sz="1700" b="1" dirty="0">
                <a:solidFill>
                  <a:srgbClr val="F2F5F0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01 · Guardá el HTML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28700" y="2767905"/>
            <a:ext cx="3060954" cy="71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A9B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Copiá el código de la IA, pegalo en el Bloc de notas y guardalo como index.html (no .txt).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00550" y="2221210"/>
            <a:ext cx="3390900" cy="1449487"/>
          </a:xfrm>
          <a:prstGeom prst="roundRect">
            <a:avLst>
              <a:gd name="adj" fmla="val 10076"/>
            </a:avLst>
          </a:prstGeom>
          <a:solidFill>
            <a:srgbClr val="1E2427"/>
          </a:solidFill>
          <a:ln w="12700">
            <a:solidFill>
              <a:srgbClr val="2D363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Text 7"/>
          <p:cNvSpPr/>
          <p:nvPr/>
        </p:nvSpPr>
        <p:spPr>
          <a:xfrm>
            <a:off x="4610100" y="2430760"/>
            <a:ext cx="3060954" cy="2736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5"/>
              </a:lnSpc>
              <a:buNone/>
            </a:pPr>
            <a:r>
              <a:rPr lang="en-US" sz="1700" b="1" dirty="0">
                <a:solidFill>
                  <a:srgbClr val="F2F5F0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02 · Creá el repositorio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610100" y="2767905"/>
            <a:ext cx="3060954" cy="71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A9B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github.com: + → New repository. Nombre: tu-usuario.github.io, Public, Add README.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981950" y="2221210"/>
            <a:ext cx="3390900" cy="1449487"/>
          </a:xfrm>
          <a:prstGeom prst="roundRect">
            <a:avLst>
              <a:gd name="adj" fmla="val 10076"/>
            </a:avLst>
          </a:prstGeom>
          <a:solidFill>
            <a:srgbClr val="1E2427"/>
          </a:solidFill>
          <a:ln w="12700">
            <a:solidFill>
              <a:srgbClr val="2D363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2" name="Text 10"/>
          <p:cNvSpPr/>
          <p:nvPr/>
        </p:nvSpPr>
        <p:spPr>
          <a:xfrm>
            <a:off x="8191500" y="2430760"/>
            <a:ext cx="3060954" cy="2736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5"/>
              </a:lnSpc>
              <a:buNone/>
            </a:pPr>
            <a:r>
              <a:rPr lang="en-US" sz="1700" b="1" dirty="0">
                <a:solidFill>
                  <a:srgbClr val="F2F5F0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03 · Subí el archivo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191500" y="2767905"/>
            <a:ext cx="3060954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A9B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file → Upload files, arrastrá index.html y hacé Commit changes.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9150" y="3962797"/>
            <a:ext cx="3390900" cy="1449487"/>
          </a:xfrm>
          <a:prstGeom prst="roundRect">
            <a:avLst>
              <a:gd name="adj" fmla="val 10076"/>
            </a:avLst>
          </a:prstGeom>
          <a:solidFill>
            <a:srgbClr val="1E2427"/>
          </a:solidFill>
          <a:ln w="12700">
            <a:solidFill>
              <a:srgbClr val="2D363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5" name="Text 13"/>
          <p:cNvSpPr/>
          <p:nvPr/>
        </p:nvSpPr>
        <p:spPr>
          <a:xfrm>
            <a:off x="1028700" y="4172347"/>
            <a:ext cx="3060954" cy="2736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5"/>
              </a:lnSpc>
              <a:buNone/>
            </a:pPr>
            <a:r>
              <a:rPr lang="en-US" sz="1700" b="1" dirty="0">
                <a:solidFill>
                  <a:srgbClr val="F2F5F0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04 · Activá GitHub Pages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028700" y="4509492"/>
            <a:ext cx="3060954" cy="71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A9B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Settings → Pages. Source: Deploy from branch, rama main, carpeta / (root). Save.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400550" y="3962797"/>
            <a:ext cx="3390900" cy="1449487"/>
          </a:xfrm>
          <a:prstGeom prst="roundRect">
            <a:avLst>
              <a:gd name="adj" fmla="val 10076"/>
            </a:avLst>
          </a:prstGeom>
          <a:solidFill>
            <a:srgbClr val="1E2427"/>
          </a:solidFill>
          <a:ln w="12700">
            <a:solidFill>
              <a:srgbClr val="2D363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8" name="Text 16"/>
          <p:cNvSpPr/>
          <p:nvPr/>
        </p:nvSpPr>
        <p:spPr>
          <a:xfrm>
            <a:off x="4610100" y="4172347"/>
            <a:ext cx="3060954" cy="2736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5"/>
              </a:lnSpc>
              <a:buNone/>
            </a:pPr>
            <a:r>
              <a:rPr lang="en-US" sz="1700" b="1" dirty="0">
                <a:solidFill>
                  <a:srgbClr val="F2F5F0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05 · Esperá unos minutos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610100" y="4509492"/>
            <a:ext cx="3060954" cy="71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A9B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despliega en 1-3 minutos. Actualizá Settings → Pages hasta ver tu URL.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981950" y="3962797"/>
            <a:ext cx="3390900" cy="1449487"/>
          </a:xfrm>
          <a:prstGeom prst="roundRect">
            <a:avLst>
              <a:gd name="adj" fmla="val 10076"/>
            </a:avLst>
          </a:prstGeom>
          <a:solidFill>
            <a:srgbClr val="1E2427"/>
          </a:solidFill>
          <a:ln w="12700">
            <a:solidFill>
              <a:srgbClr val="2D363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1" name="Text 19"/>
          <p:cNvSpPr/>
          <p:nvPr/>
        </p:nvSpPr>
        <p:spPr>
          <a:xfrm>
            <a:off x="8191500" y="4172347"/>
            <a:ext cx="3060954" cy="2736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5"/>
              </a:lnSpc>
              <a:buNone/>
            </a:pPr>
            <a:r>
              <a:rPr lang="en-US" sz="1700" b="1" dirty="0">
                <a:solidFill>
                  <a:srgbClr val="F2F5F0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06 · Compartí tu link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191500" y="4509492"/>
            <a:ext cx="3060954" cy="71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A9B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portfolio vive en tu-usuario.github.io. ¡Es un deploy real a producción!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2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35560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2E7D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PRÁCTICA 1 · PORTFOLIO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4000" b="1" i="0" dirty="0">
                <a:solidFill>
                  <a:srgbClr val="14181B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El deploy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19150" y="1657350"/>
            <a:ext cx="2247900" cy="683220"/>
          </a:xfrm>
          <a:prstGeom prst="roundRect">
            <a:avLst>
              <a:gd name="adj" fmla="val 17659"/>
            </a:avLst>
          </a:prstGeom>
          <a:solidFill>
            <a:srgbClr val="FFFFFF"/>
          </a:solidFill>
          <a:ln w="12700">
            <a:solidFill>
              <a:srgbClr val="DFE5DC"/>
            </a:solidFill>
            <a:prstDash val="solid"/>
          </a:ln>
        </p:spPr>
        <p:txBody>
          <a:bodyPr wrap="square" lIns="68295" tIns="174213" rIns="68295" bIns="148813" rtlCol="0" anchor="t">
            <a:normAutofit/>
          </a:bodyPr>
          <a:lstStyle/>
          <a:p>
            <a:pPr marL="0" indent="0" algn="ctr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4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Commit en main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175000" y="1785640"/>
            <a:ext cx="36576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2E7D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587750" y="1657350"/>
            <a:ext cx="2247900" cy="683220"/>
          </a:xfrm>
          <a:prstGeom prst="roundRect">
            <a:avLst>
              <a:gd name="adj" fmla="val 17659"/>
            </a:avLst>
          </a:prstGeom>
          <a:solidFill>
            <a:srgbClr val="FFFFFF"/>
          </a:solidFill>
          <a:ln w="12700">
            <a:solidFill>
              <a:srgbClr val="DFE5DC"/>
            </a:solidFill>
            <a:prstDash val="solid"/>
          </a:ln>
        </p:spPr>
        <p:txBody>
          <a:bodyPr wrap="square" lIns="68295" tIns="174213" rIns="68295" bIns="148813" rtlCol="0" anchor="t">
            <a:normAutofit/>
          </a:bodyPr>
          <a:lstStyle/>
          <a:p>
            <a:pPr marL="0" indent="0" algn="ctr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4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0" y="1785640"/>
            <a:ext cx="36576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2E7D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356350" y="1657350"/>
            <a:ext cx="2247900" cy="683220"/>
          </a:xfrm>
          <a:prstGeom prst="roundRect">
            <a:avLst>
              <a:gd name="adj" fmla="val 17659"/>
            </a:avLst>
          </a:prstGeom>
          <a:solidFill>
            <a:srgbClr val="FFFFFF"/>
          </a:solidFill>
          <a:ln w="12700">
            <a:solidFill>
              <a:srgbClr val="DFE5DC"/>
            </a:solidFill>
            <a:prstDash val="solid"/>
          </a:ln>
        </p:spPr>
        <p:txBody>
          <a:bodyPr wrap="square" lIns="68295" tIns="174213" rIns="68295" bIns="148813" rtlCol="0" anchor="t">
            <a:normAutofit/>
          </a:bodyPr>
          <a:lstStyle/>
          <a:p>
            <a:pPr marL="0" indent="0" algn="ctr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4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 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712200" y="1785640"/>
            <a:ext cx="36576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2E7D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124950" y="1657350"/>
            <a:ext cx="2247900" cy="683220"/>
          </a:xfrm>
          <a:prstGeom prst="roundRect">
            <a:avLst>
              <a:gd name="adj" fmla="val 17659"/>
            </a:avLst>
          </a:prstGeom>
          <a:solidFill>
            <a:srgbClr val="2E7D32"/>
          </a:solidFill>
          <a:ln w="12700">
            <a:solidFill>
              <a:srgbClr val="DFE5DC"/>
            </a:solidFill>
            <a:prstDash val="solid"/>
          </a:ln>
        </p:spPr>
        <p:txBody>
          <a:bodyPr wrap="square" lIns="68295" tIns="174213" rIns="68295" bIns="148813" rtlCol="0" anchor="t">
            <a:normAutofit/>
          </a:bodyPr>
          <a:lstStyle/>
          <a:p>
            <a:pPr marL="0" indent="0" algn="ctr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F2F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tu-usuario.github.io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19150" y="2632670"/>
            <a:ext cx="5181600" cy="1297781"/>
          </a:xfrm>
          <a:prstGeom prst="roundRect">
            <a:avLst>
              <a:gd name="adj" fmla="val 11254"/>
            </a:avLst>
          </a:prstGeom>
          <a:solidFill>
            <a:srgbClr val="FFFFFF"/>
          </a:solidFill>
          <a:ln w="12700">
            <a:solidFill>
              <a:srgbClr val="DFE5D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2" name="Text 10"/>
          <p:cNvSpPr/>
          <p:nvPr/>
        </p:nvSpPr>
        <p:spPr>
          <a:xfrm>
            <a:off x="1028700" y="2842220"/>
            <a:ext cx="49053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14181B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Dónde verlo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28700" y="3223220"/>
            <a:ext cx="4905375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5D68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la pestaña Actions del repositorio aparece el workflow pages-build-deployment.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91250" y="2632670"/>
            <a:ext cx="5181600" cy="1297781"/>
          </a:xfrm>
          <a:prstGeom prst="roundRect">
            <a:avLst>
              <a:gd name="adj" fmla="val 11254"/>
            </a:avLst>
          </a:prstGeom>
          <a:solidFill>
            <a:srgbClr val="FFFFFF"/>
          </a:solidFill>
          <a:ln w="12700">
            <a:solidFill>
              <a:srgbClr val="DFE5D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5" name="Text 13"/>
          <p:cNvSpPr/>
          <p:nvPr/>
        </p:nvSpPr>
        <p:spPr>
          <a:xfrm>
            <a:off x="6400800" y="2842220"/>
            <a:ext cx="49053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14181B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Qué hace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400800" y="3223220"/>
            <a:ext cx="4905375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5D68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Construye el sitio y lo publica. Cada commit nuevo en main lo actualiza solo.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12800" y="6238280"/>
            <a:ext cx="549866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D68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 CI/CD en acción: la automatización que vemos en la Clase 2.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35560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8BE3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PRÁCTICA 1 · PORTFOLIO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4000" b="1" i="0" dirty="0">
                <a:solidFill>
                  <a:srgbClr val="F2F5F0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Resultado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12800" y="1651000"/>
            <a:ext cx="10566400" cy="586680"/>
          </a:xfrm>
          <a:custGeom>
            <a:avLst/>
            <a:gdLst/>
            <a:ahLst/>
            <a:cxnLst/>
            <a:rect l="l" t="t" r="r" b="b"/>
            <a:pathLst>
              <a:path w="10566400" h="586680">
                <a:moveTo>
                  <a:pt x="127000" y="0"/>
                </a:moveTo>
                <a:lnTo>
                  <a:pt x="10439400" y="0"/>
                </a:lnTo>
                <a:arcTo wR="127000" hR="127000" stAng="16200000" swAng="5400000"/>
                <a:lnTo>
                  <a:pt x="10566400" y="586680"/>
                </a:lnTo>
                <a:lnTo>
                  <a:pt x="0" y="586680"/>
                </a:lnTo>
                <a:lnTo>
                  <a:pt x="0" y="127000"/>
                </a:lnTo>
                <a:arcTo wR="127000" hR="127000" stAng="10800000" swAng="5400000"/>
                <a:close/>
              </a:path>
            </a:pathLst>
          </a:custGeom>
          <a:solidFill>
            <a:srgbClr val="2D363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/>
          <p:nvPr/>
        </p:nvSpPr>
        <p:spPr>
          <a:xfrm>
            <a:off x="990600" y="1765300"/>
            <a:ext cx="2389882" cy="358080"/>
          </a:xfrm>
          <a:prstGeom prst="roundRect">
            <a:avLst>
              <a:gd name="adj" fmla="val 21280"/>
            </a:avLst>
          </a:prstGeom>
          <a:solidFill>
            <a:srgbClr val="14181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F2F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https://tu-usuario.github.io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12800" y="2237680"/>
            <a:ext cx="10566400" cy="2372320"/>
          </a:xfrm>
          <a:custGeom>
            <a:avLst/>
            <a:gdLst/>
            <a:ahLst/>
            <a:cxnLst/>
            <a:rect l="l" t="t" r="r" b="b"/>
            <a:pathLst>
              <a:path w="10566400" h="2372320">
                <a:moveTo>
                  <a:pt x="0" y="0"/>
                </a:moveTo>
                <a:lnTo>
                  <a:pt x="10566400" y="0"/>
                </a:lnTo>
                <a:lnTo>
                  <a:pt x="10566400" y="2245320"/>
                </a:lnTo>
                <a:arcTo wR="127000" hR="127000" stAng="0" swAng="5400000"/>
                <a:lnTo>
                  <a:pt x="127000" y="2372320"/>
                </a:lnTo>
                <a:arcTo wR="127000" hR="127000" stAng="5400000" swAng="5400000"/>
                <a:lnTo>
                  <a:pt x="0" y="0"/>
                </a:lnTo>
                <a:close/>
              </a:path>
            </a:pathLst>
          </a:custGeom>
          <a:solidFill>
            <a:srgbClr val="1E2427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/>
          <p:nvPr/>
        </p:nvSpPr>
        <p:spPr>
          <a:xfrm>
            <a:off x="1117600" y="2542480"/>
            <a:ext cx="10255504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F2F5F0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Hola, soy </a:t>
            </a:r>
            <a:r>
              <a:rPr lang="en-US" sz="3000" b="1" dirty="0">
                <a:solidFill>
                  <a:srgbClr val="8BE37F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[Tu nombre]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117600" y="3088580"/>
            <a:ext cx="1025550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A9B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Estoy aprendiendo DevOps: Git · Docker · CI/CD · AWS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123950" y="3488630"/>
            <a:ext cx="3221534" cy="810220"/>
          </a:xfrm>
          <a:prstGeom prst="roundRect">
            <a:avLst>
              <a:gd name="adj" fmla="val 11756"/>
            </a:avLst>
          </a:prstGeom>
          <a:solidFill>
            <a:srgbClr val="14181B"/>
          </a:solidFill>
          <a:ln w="12700">
            <a:solidFill>
              <a:srgbClr val="2D363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0" name="Text 8"/>
          <p:cNvSpPr/>
          <p:nvPr/>
        </p:nvSpPr>
        <p:spPr>
          <a:xfrm>
            <a:off x="1282700" y="3647380"/>
            <a:ext cx="299115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2F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Proyecto 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82700" y="3926780"/>
            <a:ext cx="299115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A9B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Próximamente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85184" y="3488630"/>
            <a:ext cx="3221633" cy="810220"/>
          </a:xfrm>
          <a:prstGeom prst="roundRect">
            <a:avLst>
              <a:gd name="adj" fmla="val 11756"/>
            </a:avLst>
          </a:prstGeom>
          <a:solidFill>
            <a:srgbClr val="14181B"/>
          </a:solidFill>
          <a:ln w="12700">
            <a:solidFill>
              <a:srgbClr val="2D363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3" name="Text 11"/>
          <p:cNvSpPr/>
          <p:nvPr/>
        </p:nvSpPr>
        <p:spPr>
          <a:xfrm>
            <a:off x="4643934" y="3647380"/>
            <a:ext cx="299125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2F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Proyecto 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43934" y="3926780"/>
            <a:ext cx="299125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A9B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Próximamente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846516" y="3488630"/>
            <a:ext cx="3221534" cy="810220"/>
          </a:xfrm>
          <a:prstGeom prst="roundRect">
            <a:avLst>
              <a:gd name="adj" fmla="val 11756"/>
            </a:avLst>
          </a:prstGeom>
          <a:solidFill>
            <a:srgbClr val="14181B"/>
          </a:solidFill>
          <a:ln w="12700">
            <a:solidFill>
              <a:srgbClr val="2D363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6" name="Text 14"/>
          <p:cNvSpPr/>
          <p:nvPr/>
        </p:nvSpPr>
        <p:spPr>
          <a:xfrm>
            <a:off x="8005266" y="3647380"/>
            <a:ext cx="299115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2F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Proyecto 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005266" y="3926780"/>
            <a:ext cx="299115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A9B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Próximamente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12800" y="4889401"/>
            <a:ext cx="10883392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A9B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primer sitio publicado, con URL propia, listo para compartir.</a:t>
            </a:r>
            <a:endParaRPr lang="en-US" sz="1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4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4000" b="1" i="0" dirty="0">
                <a:solidFill>
                  <a:srgbClr val="F2F5F0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¿Qué problema resuelve Docker?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819150" y="1657350"/>
            <a:ext cx="5181600" cy="1772841"/>
          </a:xfrm>
          <a:prstGeom prst="roundRect">
            <a:avLst>
              <a:gd name="adj" fmla="val 8238"/>
            </a:avLst>
          </a:prstGeom>
          <a:solidFill>
            <a:srgbClr val="1E2427"/>
          </a:solidFill>
          <a:ln w="12700">
            <a:solidFill>
              <a:srgbClr val="2D363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" name="Text 2"/>
          <p:cNvSpPr/>
          <p:nvPr/>
        </p:nvSpPr>
        <p:spPr>
          <a:xfrm>
            <a:off x="1054100" y="1892300"/>
            <a:ext cx="4853051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50" dirty="0">
                <a:solidFill>
                  <a:srgbClr val="8BE3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FUNCIONA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54100" y="2224980"/>
            <a:ext cx="4853051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2F5F0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Mi computadora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4100" y="2661841"/>
            <a:ext cx="4853051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A9B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HTML, servidor, configuración y dependencias.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91250" y="1657350"/>
            <a:ext cx="5181600" cy="1772841"/>
          </a:xfrm>
          <a:prstGeom prst="roundRect">
            <a:avLst>
              <a:gd name="adj" fmla="val 8238"/>
            </a:avLst>
          </a:prstGeom>
          <a:solidFill>
            <a:srgbClr val="1E2427"/>
          </a:solidFill>
          <a:ln w="12700">
            <a:solidFill>
              <a:srgbClr val="2D363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/>
          <p:nvPr/>
        </p:nvSpPr>
        <p:spPr>
          <a:xfrm>
            <a:off x="6426200" y="1892300"/>
            <a:ext cx="4853051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50" dirty="0">
                <a:solidFill>
                  <a:srgbClr val="8BE3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FUNCIONA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26200" y="2224980"/>
            <a:ext cx="4853051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2F5F0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El servidor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26200" y="2661841"/>
            <a:ext cx="4853051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A9B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Otra versión, otra configuración y otras dependencias.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12800" y="3715941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A9B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Docker empaqueta la aplicación junto con su entorno.</a:t>
            </a:r>
            <a:endParaRPr lang="en-US" sz="2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2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4000" b="1" i="0" dirty="0">
                <a:solidFill>
                  <a:srgbClr val="14181B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Docker: Dockerfile, imagen y contenedor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12800" y="1676400"/>
            <a:ext cx="10883392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00" dirty="0">
                <a:solidFill>
                  <a:srgbClr val="14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contenedor lleva todo lo necesario para ejecutar una aplicación, igual en cualquier computadora.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19150" y="2673350"/>
            <a:ext cx="3035300" cy="1902321"/>
          </a:xfrm>
          <a:prstGeom prst="roundRect">
            <a:avLst>
              <a:gd name="adj" fmla="val 7677"/>
            </a:avLst>
          </a:prstGeom>
          <a:solidFill>
            <a:srgbClr val="FFFFFF"/>
          </a:solidFill>
          <a:ln w="12700">
            <a:solidFill>
              <a:srgbClr val="DFE5D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/>
          <p:nvPr/>
        </p:nvSpPr>
        <p:spPr>
          <a:xfrm>
            <a:off x="1079500" y="2933700"/>
            <a:ext cx="2590038" cy="421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20"/>
              </a:lnSpc>
              <a:buNone/>
            </a:pPr>
            <a:r>
              <a:rPr lang="en-US" sz="2600" b="1" dirty="0">
                <a:solidFill>
                  <a:srgbClr val="14181B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Dockerfile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79500" y="3431480"/>
            <a:ext cx="2590038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4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receta: cómo construir mi aplicación.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79500" y="4066480"/>
            <a:ext cx="2590038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E7D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 receta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013200" y="3340001"/>
            <a:ext cx="487680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2E7D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4578350" y="2673350"/>
            <a:ext cx="3035300" cy="1902321"/>
          </a:xfrm>
          <a:prstGeom prst="roundRect">
            <a:avLst>
              <a:gd name="adj" fmla="val 7677"/>
            </a:avLst>
          </a:prstGeom>
          <a:solidFill>
            <a:srgbClr val="FFFFFF"/>
          </a:solidFill>
          <a:ln w="12700">
            <a:solidFill>
              <a:srgbClr val="DFE5D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0" name="Text 8"/>
          <p:cNvSpPr/>
          <p:nvPr/>
        </p:nvSpPr>
        <p:spPr>
          <a:xfrm>
            <a:off x="4838700" y="2933700"/>
            <a:ext cx="2590038" cy="421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20"/>
              </a:lnSpc>
              <a:buNone/>
            </a:pPr>
            <a:r>
              <a:rPr lang="en-US" sz="2600" b="1" dirty="0">
                <a:solidFill>
                  <a:srgbClr val="14181B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Imagen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838700" y="3431480"/>
            <a:ext cx="2590038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4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plantilla de nuestra aplicación.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38700" y="4066480"/>
            <a:ext cx="2590038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E7D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 pizza preparada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0" y="3340001"/>
            <a:ext cx="487680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2E7D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3200" dirty="0"/>
          </a:p>
        </p:txBody>
      </p:sp>
      <p:sp>
        <p:nvSpPr>
          <p:cNvPr id="14" name="Shape 12"/>
          <p:cNvSpPr/>
          <p:nvPr/>
        </p:nvSpPr>
        <p:spPr>
          <a:xfrm>
            <a:off x="8337550" y="2806700"/>
            <a:ext cx="3035300" cy="1635621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DFE5D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5" name="Text 13"/>
          <p:cNvSpPr/>
          <p:nvPr/>
        </p:nvSpPr>
        <p:spPr>
          <a:xfrm>
            <a:off x="8597900" y="3067050"/>
            <a:ext cx="2590038" cy="421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20"/>
              </a:lnSpc>
              <a:buNone/>
            </a:pPr>
            <a:r>
              <a:rPr lang="en-US" sz="2600" b="1" dirty="0">
                <a:solidFill>
                  <a:srgbClr val="14181B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Contenedor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597900" y="3564830"/>
            <a:ext cx="259003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4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imagen ejecutándose.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597900" y="3933130"/>
            <a:ext cx="2590038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E7D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 pizza servida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4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35560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8BE3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PRÁCTICA 2 · DOCKER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4000" b="1" i="0" dirty="0">
                <a:solidFill>
                  <a:srgbClr val="F2F5F0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Crear el proyecto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12800" y="1651000"/>
            <a:ext cx="5448300" cy="1815802"/>
          </a:xfrm>
          <a:prstGeom prst="roundRect">
            <a:avLst>
              <a:gd name="adj" fmla="val 8393"/>
            </a:avLst>
          </a:prstGeom>
          <a:solidFill>
            <a:srgbClr val="0D1012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/>
          <p:nvPr/>
        </p:nvSpPr>
        <p:spPr>
          <a:xfrm>
            <a:off x="1066800" y="1905000"/>
            <a:ext cx="5088509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50" dirty="0">
                <a:solidFill>
                  <a:srgbClr val="8BE3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CARPETA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66800" y="2237680"/>
            <a:ext cx="5088509" cy="1000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60"/>
              </a:lnSpc>
              <a:buNone/>
            </a:pPr>
            <a:r>
              <a:rPr lang="en-US" sz="1600" dirty="0">
                <a:solidFill>
                  <a:srgbClr val="F2F5F0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devops-clase1/</a:t>
            </a:r>
            <a:endParaRPr lang="en-US" sz="1600" dirty="0"/>
          </a:p>
          <a:p>
            <a:pPr marL="0" indent="0" algn="l">
              <a:lnSpc>
                <a:spcPts val="2560"/>
              </a:lnSpc>
              <a:buNone/>
            </a:pPr>
            <a:r>
              <a:rPr lang="en-US" sz="1600" dirty="0">
                <a:solidFill>
                  <a:srgbClr val="F2F5F0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├── index.html</a:t>
            </a:r>
            <a:endParaRPr lang="en-US" sz="1600" dirty="0"/>
          </a:p>
          <a:p>
            <a:pPr marL="0" indent="0" algn="l">
              <a:lnSpc>
                <a:spcPts val="2560"/>
              </a:lnSpc>
              <a:buNone/>
            </a:pPr>
            <a:r>
              <a:rPr lang="en-US" sz="1600" dirty="0">
                <a:solidFill>
                  <a:srgbClr val="F2F5F0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└── Dockerfile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38900" y="1651000"/>
            <a:ext cx="5088509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A9B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Dos archivos alcanzan para la primera aplicación: la página y la receta para empaquetarla.</a:t>
            </a:r>
            <a:endParaRPr lang="en-US" sz="2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2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35560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2E7D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PRÁCTICA 2 · DOCKER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4000" b="1" i="0" dirty="0">
                <a:solidFill>
                  <a:srgbClr val="14181B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Crear index.html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12800" y="1651000"/>
            <a:ext cx="7095034" cy="1815802"/>
          </a:xfrm>
          <a:prstGeom prst="roundRect">
            <a:avLst>
              <a:gd name="adj" fmla="val 8393"/>
            </a:avLst>
          </a:prstGeom>
          <a:solidFill>
            <a:srgbClr val="1E2427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/>
          <p:nvPr/>
        </p:nvSpPr>
        <p:spPr>
          <a:xfrm>
            <a:off x="1066800" y="1905000"/>
            <a:ext cx="6784645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50" dirty="0">
                <a:solidFill>
                  <a:srgbClr val="2E7D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HTML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66800" y="2237680"/>
            <a:ext cx="6784645" cy="1000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60"/>
              </a:lnSpc>
              <a:buNone/>
            </a:pPr>
            <a:r>
              <a:rPr lang="en-US" sz="1600" dirty="0">
                <a:solidFill>
                  <a:srgbClr val="F2F5F0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&lt;h1&gt;Fundamentos de DevOps&lt;/h1&gt;</a:t>
            </a:r>
            <a:endParaRPr lang="en-US" sz="1600" dirty="0"/>
          </a:p>
          <a:p>
            <a:pPr marL="0" indent="0" algn="l">
              <a:lnSpc>
                <a:spcPts val="2560"/>
              </a:lnSpc>
              <a:buNone/>
            </a:pPr>
            <a:r>
              <a:rPr lang="en-US" sz="1600" dirty="0">
                <a:solidFill>
                  <a:srgbClr val="F2F5F0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&lt;h2&gt;Mi primera aplicación con Docker&lt;/h2&gt;</a:t>
            </a:r>
            <a:endParaRPr lang="en-US" sz="1600" dirty="0"/>
          </a:p>
          <a:p>
            <a:pPr marL="0" indent="0" algn="l">
              <a:lnSpc>
                <a:spcPts val="2560"/>
              </a:lnSpc>
              <a:buNone/>
            </a:pPr>
            <a:r>
              <a:rPr lang="en-US" sz="1600" dirty="0">
                <a:solidFill>
                  <a:srgbClr val="F2F5F0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&lt;p&gt;Curso de Fundamentos de DevOps&lt;/p&gt;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085634" y="1651000"/>
            <a:ext cx="3392373" cy="10386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60"/>
              </a:lnSpc>
              <a:buNone/>
            </a:pPr>
            <a:r>
              <a:rPr lang="en-US" sz="1900" dirty="0">
                <a:solidFill>
                  <a:srgbClr val="5D68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 abrimos en el navegador.</a:t>
            </a:r>
            <a:endParaRPr lang="en-US" sz="1900" dirty="0"/>
          </a:p>
          <a:p>
            <a:pPr marL="0" indent="0" algn="l">
              <a:lnSpc>
                <a:spcPts val="2660"/>
              </a:lnSpc>
              <a:buNone/>
            </a:pPr>
            <a:endParaRPr lang="en-US" sz="1900" dirty="0"/>
          </a:p>
          <a:p>
            <a:pPr marL="0" indent="0" algn="l">
              <a:lnSpc>
                <a:spcPts val="2660"/>
              </a:lnSpc>
              <a:buNone/>
            </a:pPr>
            <a:r>
              <a:rPr lang="en-US" sz="1900" dirty="0">
                <a:solidFill>
                  <a:srgbClr val="5D68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HTML → Navegador</a:t>
            </a:r>
            <a:endParaRPr lang="en-US" sz="1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4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35560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8BE3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PRÁCTICA 2 · DOCKER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4000" b="1" i="0" dirty="0">
                <a:solidFill>
                  <a:srgbClr val="F2F5F0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Crear el Dockerfile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12800" y="1651000"/>
            <a:ext cx="6436320" cy="2766020"/>
          </a:xfrm>
          <a:prstGeom prst="roundRect">
            <a:avLst>
              <a:gd name="adj" fmla="val 5510"/>
            </a:avLst>
          </a:prstGeom>
          <a:solidFill>
            <a:srgbClr val="0D1012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/>
          <p:nvPr/>
        </p:nvSpPr>
        <p:spPr>
          <a:xfrm>
            <a:off x="1066800" y="1905000"/>
            <a:ext cx="610617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50" dirty="0">
                <a:solidFill>
                  <a:srgbClr val="8BE3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DOCKERFILE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66800" y="2237680"/>
            <a:ext cx="6106170" cy="1000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60"/>
              </a:lnSpc>
              <a:buNone/>
            </a:pPr>
            <a:r>
              <a:rPr lang="en-US" sz="1600" dirty="0">
                <a:solidFill>
                  <a:srgbClr val="F2F5F0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FROM nginx:alpine</a:t>
            </a:r>
            <a:endParaRPr lang="en-US" sz="1600" dirty="0"/>
          </a:p>
          <a:p>
            <a:pPr marL="0" indent="0" algn="l">
              <a:lnSpc>
                <a:spcPts val="2560"/>
              </a:lnSpc>
              <a:buNone/>
            </a:pPr>
            <a:endParaRPr lang="en-US" sz="1600" dirty="0"/>
          </a:p>
          <a:p>
            <a:pPr marL="0" indent="0" algn="l">
              <a:lnSpc>
                <a:spcPts val="2560"/>
              </a:lnSpc>
              <a:buNone/>
            </a:pPr>
            <a:r>
              <a:rPr lang="en-US" sz="1600" dirty="0">
                <a:solidFill>
                  <a:srgbClr val="F2F5F0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COPY index.html /usr/share/nginx/html/index.html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433270" y="1657350"/>
            <a:ext cx="3939580" cy="1440160"/>
          </a:xfrm>
          <a:prstGeom prst="roundRect">
            <a:avLst>
              <a:gd name="adj" fmla="val 10141"/>
            </a:avLst>
          </a:prstGeom>
          <a:solidFill>
            <a:srgbClr val="1E2427"/>
          </a:solidFill>
          <a:ln w="12700">
            <a:solidFill>
              <a:srgbClr val="2D363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/>
          <p:nvPr/>
        </p:nvSpPr>
        <p:spPr>
          <a:xfrm>
            <a:off x="7668220" y="1892300"/>
            <a:ext cx="3573770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2F5F0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FROM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668220" y="2329160"/>
            <a:ext cx="357377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A9B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Usamos una imagen que ya tiene Nginx.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433270" y="3237210"/>
            <a:ext cx="3939580" cy="1173460"/>
          </a:xfrm>
          <a:prstGeom prst="roundRect">
            <a:avLst>
              <a:gd name="adj" fmla="val 12446"/>
            </a:avLst>
          </a:prstGeom>
          <a:solidFill>
            <a:srgbClr val="1E2427"/>
          </a:solidFill>
          <a:ln w="12700">
            <a:solidFill>
              <a:srgbClr val="2D363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Text 9"/>
          <p:cNvSpPr/>
          <p:nvPr/>
        </p:nvSpPr>
        <p:spPr>
          <a:xfrm>
            <a:off x="7668220" y="3472160"/>
            <a:ext cx="3573770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2F5F0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COPY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668220" y="3909020"/>
            <a:ext cx="357377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A9B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Copiamos nuestra página al servidor.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2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35560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2E7D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PRÁCTICA 2 · DOCKER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4000" b="1" i="0" dirty="0">
                <a:solidFill>
                  <a:srgbClr val="14181B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Construir la imagen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12800" y="1651000"/>
            <a:ext cx="10566400" cy="1165721"/>
          </a:xfrm>
          <a:prstGeom prst="roundRect">
            <a:avLst>
              <a:gd name="adj" fmla="val 13073"/>
            </a:avLst>
          </a:prstGeom>
          <a:solidFill>
            <a:srgbClr val="1E2427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/>
          <p:nvPr/>
        </p:nvSpPr>
        <p:spPr>
          <a:xfrm>
            <a:off x="1066800" y="1905000"/>
            <a:ext cx="1036015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50" dirty="0">
                <a:solidFill>
                  <a:srgbClr val="2E7D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TERMINAL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66800" y="2237680"/>
            <a:ext cx="10360152" cy="350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60"/>
              </a:lnSpc>
              <a:buNone/>
            </a:pPr>
            <a:r>
              <a:rPr lang="en-US" sz="1600" dirty="0">
                <a:solidFill>
                  <a:srgbClr val="F2F5F0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docker build -t web-devops 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19150" y="3102471"/>
            <a:ext cx="3390900" cy="1440160"/>
          </a:xfrm>
          <a:prstGeom prst="roundRect">
            <a:avLst>
              <a:gd name="adj" fmla="val 10141"/>
            </a:avLst>
          </a:prstGeom>
          <a:solidFill>
            <a:srgbClr val="FFFFFF"/>
          </a:solidFill>
          <a:ln w="12700">
            <a:solidFill>
              <a:srgbClr val="DFE5D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/>
          <p:nvPr/>
        </p:nvSpPr>
        <p:spPr>
          <a:xfrm>
            <a:off x="1054100" y="3337421"/>
            <a:ext cx="3008630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4181B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docker build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54100" y="3774281"/>
            <a:ext cx="300863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5D68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Construye una imagen.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400550" y="3102471"/>
            <a:ext cx="3390900" cy="1440160"/>
          </a:xfrm>
          <a:prstGeom prst="roundRect">
            <a:avLst>
              <a:gd name="adj" fmla="val 10141"/>
            </a:avLst>
          </a:prstGeom>
          <a:solidFill>
            <a:srgbClr val="FFFFFF"/>
          </a:solidFill>
          <a:ln w="12700">
            <a:solidFill>
              <a:srgbClr val="DFE5D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Text 9"/>
          <p:cNvSpPr/>
          <p:nvPr/>
        </p:nvSpPr>
        <p:spPr>
          <a:xfrm>
            <a:off x="4635500" y="3337421"/>
            <a:ext cx="3008630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4181B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-t web-devops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635500" y="3774281"/>
            <a:ext cx="300863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5D68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pone un nombre.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981950" y="3102471"/>
            <a:ext cx="3390900" cy="1440160"/>
          </a:xfrm>
          <a:prstGeom prst="roundRect">
            <a:avLst>
              <a:gd name="adj" fmla="val 10141"/>
            </a:avLst>
          </a:prstGeom>
          <a:solidFill>
            <a:srgbClr val="FFFFFF"/>
          </a:solidFill>
          <a:ln w="12700">
            <a:solidFill>
              <a:srgbClr val="DFE5D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4" name="Text 12"/>
          <p:cNvSpPr/>
          <p:nvPr/>
        </p:nvSpPr>
        <p:spPr>
          <a:xfrm>
            <a:off x="8216900" y="3337421"/>
            <a:ext cx="3008630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4181B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.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216900" y="3774281"/>
            <a:ext cx="300863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5D68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Busca el Dockerfile en esta carpeta.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12800" y="4828381"/>
            <a:ext cx="10883392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5D68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 </a:t>
            </a:r>
            <a:r>
              <a:rPr lang="en-US" sz="1700" b="1" dirty="0">
                <a:solidFill>
                  <a:srgbClr val="5D68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docker images</a:t>
            </a:r>
            <a:r>
              <a:rPr lang="en-US" sz="1700" dirty="0">
                <a:solidFill>
                  <a:srgbClr val="5D68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vemos web-devops y nginx.</a:t>
            </a:r>
            <a:endParaRPr lang="en-US" sz="17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4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35560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8BE3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PRÁCTICA 2 · DOCKER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4000" b="1" i="0" dirty="0">
                <a:solidFill>
                  <a:srgbClr val="F2F5F0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Ejecutar el contenedor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12800" y="1651000"/>
            <a:ext cx="10566400" cy="1165721"/>
          </a:xfrm>
          <a:prstGeom prst="roundRect">
            <a:avLst>
              <a:gd name="adj" fmla="val 13073"/>
            </a:avLst>
          </a:prstGeom>
          <a:solidFill>
            <a:srgbClr val="0D1012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/>
          <p:nvPr/>
        </p:nvSpPr>
        <p:spPr>
          <a:xfrm>
            <a:off x="1066800" y="1905000"/>
            <a:ext cx="1036015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50" dirty="0">
                <a:solidFill>
                  <a:srgbClr val="8BE3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TERMINAL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66800" y="2237680"/>
            <a:ext cx="10360152" cy="350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60"/>
              </a:lnSpc>
              <a:buNone/>
            </a:pPr>
            <a:r>
              <a:rPr lang="en-US" sz="1600" dirty="0">
                <a:solidFill>
                  <a:srgbClr val="F2F5F0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docker run -d -p 8080:80 web-devops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19150" y="3102471"/>
            <a:ext cx="5016500" cy="947341"/>
          </a:xfrm>
          <a:prstGeom prst="roundRect">
            <a:avLst>
              <a:gd name="adj" fmla="val 12736"/>
            </a:avLst>
          </a:prstGeom>
          <a:solidFill>
            <a:srgbClr val="1E2427"/>
          </a:solidFill>
          <a:ln w="12700">
            <a:solidFill>
              <a:srgbClr val="2D363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/>
          <p:nvPr/>
        </p:nvSpPr>
        <p:spPr>
          <a:xfrm>
            <a:off x="881253" y="3312021"/>
            <a:ext cx="4892294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F2F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PC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81253" y="3576141"/>
            <a:ext cx="4892294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F2F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puerto 8080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943600" y="3362821"/>
            <a:ext cx="36576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8BE3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6356350" y="3102471"/>
            <a:ext cx="5016500" cy="947341"/>
          </a:xfrm>
          <a:prstGeom prst="roundRect">
            <a:avLst>
              <a:gd name="adj" fmla="val 12736"/>
            </a:avLst>
          </a:prstGeom>
          <a:solidFill>
            <a:srgbClr val="1E2427"/>
          </a:solidFill>
          <a:ln w="12700">
            <a:solidFill>
              <a:srgbClr val="2D363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2" name="Text 10"/>
          <p:cNvSpPr/>
          <p:nvPr/>
        </p:nvSpPr>
        <p:spPr>
          <a:xfrm>
            <a:off x="6418453" y="3312021"/>
            <a:ext cx="4892294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F2F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Contenedor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18453" y="3576141"/>
            <a:ext cx="4892294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F2F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puerto 80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12800" y="4335562"/>
            <a:ext cx="10883392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A9B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Entramos a </a:t>
            </a:r>
            <a:r>
              <a:rPr lang="en-US" sz="1700" b="1" dirty="0">
                <a:solidFill>
                  <a:srgbClr val="A9B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localhost:8080</a:t>
            </a:r>
            <a:r>
              <a:rPr lang="en-US" sz="1700" dirty="0">
                <a:solidFill>
                  <a:srgbClr val="A9B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y vemos la página. Con </a:t>
            </a:r>
            <a:r>
              <a:rPr lang="en-US" sz="1700" b="1" dirty="0">
                <a:solidFill>
                  <a:srgbClr val="A9B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docker ps</a:t>
            </a:r>
            <a:r>
              <a:rPr lang="en-US" sz="1700" dirty="0">
                <a:solidFill>
                  <a:srgbClr val="A9B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vemos el contenedor: el momento más importante de la clase.</a:t>
            </a:r>
            <a:endParaRPr lang="en-US" sz="17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4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35560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8BE3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PRÁCTICA 2 · DOCKER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4000" b="1" i="0" dirty="0">
                <a:solidFill>
                  <a:srgbClr val="F2F5F0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Resumen: mi primera app con Docker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12800" y="1625600"/>
            <a:ext cx="5181600" cy="2067520"/>
          </a:xfrm>
          <a:prstGeom prst="roundRect">
            <a:avLst>
              <a:gd name="adj" fmla="val 7371"/>
            </a:avLst>
          </a:prstGeom>
          <a:solidFill>
            <a:srgbClr val="1E2427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/>
          <p:nvPr/>
        </p:nvSpPr>
        <p:spPr>
          <a:xfrm>
            <a:off x="1066800" y="1879600"/>
            <a:ext cx="481380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kern="0" spc="150" dirty="0">
                <a:solidFill>
                  <a:srgbClr val="8BE3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DOCKERFILE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66800" y="2219920"/>
            <a:ext cx="4813808" cy="124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F2F5F0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FROM nginx:alpine</a:t>
            </a:r>
            <a:endParaRPr lang="en-US" sz="1500" dirty="0"/>
          </a:p>
          <a:p>
            <a:pPr marL="0" indent="0" algn="l">
              <a:lnSpc>
                <a:spcPts val="2400"/>
              </a:lnSpc>
              <a:buNone/>
            </a:pPr>
            <a:endParaRPr lang="en-US" sz="15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F2F5F0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COPY index.html /usr/share/nginx/html/index.html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97600" y="1625600"/>
            <a:ext cx="5181600" cy="2067520"/>
          </a:xfrm>
          <a:prstGeom prst="roundRect">
            <a:avLst>
              <a:gd name="adj" fmla="val 7371"/>
            </a:avLst>
          </a:prstGeom>
          <a:solidFill>
            <a:srgbClr val="1E2427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/>
          <p:nvPr/>
        </p:nvSpPr>
        <p:spPr>
          <a:xfrm>
            <a:off x="6451600" y="1879600"/>
            <a:ext cx="481380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kern="0" spc="150" dirty="0">
                <a:solidFill>
                  <a:srgbClr val="8BE3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TERMINAL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51600" y="2219920"/>
            <a:ext cx="4813808" cy="124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F2F5F0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docker build -t web-devops .</a:t>
            </a:r>
            <a:endParaRPr lang="en-US" sz="15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F2F5F0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docker images</a:t>
            </a:r>
            <a:endParaRPr lang="en-US" sz="15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F2F5F0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docker run -d -p 8080:80 web-devops</a:t>
            </a:r>
            <a:endParaRPr lang="en-US" sz="15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F2F5F0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docker ps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12800" y="3947120"/>
            <a:ext cx="10883392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F2F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Abrir </a:t>
            </a:r>
            <a:r>
              <a:rPr lang="en-US" sz="1800" b="1" dirty="0">
                <a:solidFill>
                  <a:srgbClr val="8BE3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localhost:8080</a:t>
            </a:r>
            <a:r>
              <a:rPr lang="en-US" sz="1800" dirty="0">
                <a:solidFill>
                  <a:srgbClr val="F2F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y ver la página funcionando. </a:t>
            </a:r>
            <a:r>
              <a:rPr lang="en-US" sz="1800" dirty="0">
                <a:solidFill>
                  <a:srgbClr val="A9B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 desafío: modificar el HTML y construir web-devops:v2.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2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35560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2E7D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PRÁCTICA 2 · DOCKER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4000" b="1" i="0" dirty="0">
                <a:solidFill>
                  <a:srgbClr val="14181B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Mini desafío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19150" y="1657350"/>
            <a:ext cx="3390900" cy="1706860"/>
          </a:xfrm>
          <a:prstGeom prst="roundRect">
            <a:avLst>
              <a:gd name="adj" fmla="val 8557"/>
            </a:avLst>
          </a:prstGeom>
          <a:solidFill>
            <a:srgbClr val="FFFFFF"/>
          </a:solidFill>
          <a:ln w="12700">
            <a:solidFill>
              <a:srgbClr val="DFE5D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/>
          <p:nvPr/>
        </p:nvSpPr>
        <p:spPr>
          <a:xfrm>
            <a:off x="1054100" y="1892300"/>
            <a:ext cx="3008630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4181B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1. Modificar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4100" y="2329160"/>
            <a:ext cx="300863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5D68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Cambiar el h2 por tu nombre en index.html.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400550" y="1657350"/>
            <a:ext cx="3390900" cy="1706860"/>
          </a:xfrm>
          <a:prstGeom prst="roundRect">
            <a:avLst>
              <a:gd name="adj" fmla="val 8557"/>
            </a:avLst>
          </a:prstGeom>
          <a:solidFill>
            <a:srgbClr val="FFFFFF"/>
          </a:solidFill>
          <a:ln w="12700">
            <a:solidFill>
              <a:srgbClr val="DFE5D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/>
          <p:nvPr/>
        </p:nvSpPr>
        <p:spPr>
          <a:xfrm>
            <a:off x="4635500" y="1892300"/>
            <a:ext cx="3008630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4181B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2. Preguntar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635500" y="2329160"/>
            <a:ext cx="300863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5D68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¿Por qué la página del contenedor no cambia? Porque la imagen se construyó antes.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981950" y="1657350"/>
            <a:ext cx="3390900" cy="1706860"/>
          </a:xfrm>
          <a:prstGeom prst="roundRect">
            <a:avLst>
              <a:gd name="adj" fmla="val 8557"/>
            </a:avLst>
          </a:prstGeom>
          <a:solidFill>
            <a:srgbClr val="FFFFFF"/>
          </a:solidFill>
          <a:ln w="12700">
            <a:solidFill>
              <a:srgbClr val="DFE5D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Text 9"/>
          <p:cNvSpPr/>
          <p:nvPr/>
        </p:nvSpPr>
        <p:spPr>
          <a:xfrm>
            <a:off x="8216900" y="1892300"/>
            <a:ext cx="3008630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4181B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3. Versionar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216900" y="2329160"/>
            <a:ext cx="300863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5D68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Construir otra versión de la imagen.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12800" y="3649960"/>
            <a:ext cx="10566400" cy="1165721"/>
          </a:xfrm>
          <a:prstGeom prst="roundRect">
            <a:avLst>
              <a:gd name="adj" fmla="val 13073"/>
            </a:avLst>
          </a:prstGeom>
          <a:solidFill>
            <a:srgbClr val="1E2427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4" name="Text 12"/>
          <p:cNvSpPr/>
          <p:nvPr/>
        </p:nvSpPr>
        <p:spPr>
          <a:xfrm>
            <a:off x="1066800" y="3903960"/>
            <a:ext cx="1036015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50" dirty="0">
                <a:solidFill>
                  <a:srgbClr val="2E7D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VERSIÓN 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66800" y="4236641"/>
            <a:ext cx="10360152" cy="350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60"/>
              </a:lnSpc>
              <a:buNone/>
            </a:pPr>
            <a:r>
              <a:rPr lang="en-US" sz="1600" dirty="0">
                <a:solidFill>
                  <a:srgbClr val="F2F5F0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docker build -t web-devops:v2 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80"/>
            <a:ext cx="65151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D68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Concepto nuevo: versionado de imágenes (web-devops y web-devops:v2).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4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4000" b="1" i="0" dirty="0">
                <a:solidFill>
                  <a:srgbClr val="F2F5F0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Resumen de la Clase 1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19150" y="1657350"/>
            <a:ext cx="2247900" cy="683220"/>
          </a:xfrm>
          <a:prstGeom prst="roundRect">
            <a:avLst>
              <a:gd name="adj" fmla="val 17659"/>
            </a:avLst>
          </a:prstGeom>
          <a:solidFill>
            <a:srgbClr val="1E2427"/>
          </a:solidFill>
          <a:ln w="12700">
            <a:solidFill>
              <a:srgbClr val="2D363A"/>
            </a:solidFill>
            <a:prstDash val="solid"/>
          </a:ln>
        </p:spPr>
        <p:txBody>
          <a:bodyPr wrap="square" lIns="68295" tIns="174213" rIns="68295" bIns="148813" rtlCol="0" anchor="t">
            <a:normAutofit/>
          </a:bodyPr>
          <a:lstStyle/>
          <a:p>
            <a:pPr marL="0" indent="0" algn="ctr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F2F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Programador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175000" y="1785640"/>
            <a:ext cx="36576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8BE3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587750" y="1657350"/>
            <a:ext cx="2247900" cy="683220"/>
          </a:xfrm>
          <a:prstGeom prst="roundRect">
            <a:avLst>
              <a:gd name="adj" fmla="val 17659"/>
            </a:avLst>
          </a:prstGeom>
          <a:solidFill>
            <a:srgbClr val="1E2427"/>
          </a:solidFill>
          <a:ln w="12700">
            <a:solidFill>
              <a:srgbClr val="2D363A"/>
            </a:solidFill>
            <a:prstDash val="solid"/>
          </a:ln>
        </p:spPr>
        <p:txBody>
          <a:bodyPr wrap="square" lIns="68295" tIns="174213" rIns="68295" bIns="148813" rtlCol="0" anchor="t">
            <a:normAutofit/>
          </a:bodyPr>
          <a:lstStyle/>
          <a:p>
            <a:pPr marL="0" indent="0" algn="ctr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F2F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Código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943600" y="1785640"/>
            <a:ext cx="36576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8BE3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356350" y="1657350"/>
            <a:ext cx="2247900" cy="683220"/>
          </a:xfrm>
          <a:prstGeom prst="roundRect">
            <a:avLst>
              <a:gd name="adj" fmla="val 17659"/>
            </a:avLst>
          </a:prstGeom>
          <a:solidFill>
            <a:srgbClr val="1E2427"/>
          </a:solidFill>
          <a:ln w="12700">
            <a:solidFill>
              <a:srgbClr val="2D363A"/>
            </a:solidFill>
            <a:prstDash val="solid"/>
          </a:ln>
        </p:spPr>
        <p:txBody>
          <a:bodyPr wrap="square" lIns="68295" tIns="174213" rIns="68295" bIns="148813" rtlCol="0" anchor="t">
            <a:normAutofit/>
          </a:bodyPr>
          <a:lstStyle/>
          <a:p>
            <a:pPr marL="0" indent="0" algn="ctr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F2F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712200" y="1785640"/>
            <a:ext cx="36576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8BE3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124950" y="1657350"/>
            <a:ext cx="2247900" cy="683220"/>
          </a:xfrm>
          <a:prstGeom prst="roundRect">
            <a:avLst>
              <a:gd name="adj" fmla="val 17659"/>
            </a:avLst>
          </a:prstGeom>
          <a:solidFill>
            <a:srgbClr val="1E2427"/>
          </a:solidFill>
          <a:ln w="12700">
            <a:solidFill>
              <a:srgbClr val="2D363A"/>
            </a:solidFill>
            <a:prstDash val="solid"/>
          </a:ln>
        </p:spPr>
        <p:txBody>
          <a:bodyPr wrap="square" lIns="68295" tIns="174213" rIns="68295" bIns="148813" rtlCol="0" anchor="t">
            <a:normAutofit/>
          </a:bodyPr>
          <a:lstStyle/>
          <a:p>
            <a:pPr marL="0" indent="0" algn="ctr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F2F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Dockerfile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19150" y="2632670"/>
            <a:ext cx="2247900" cy="683220"/>
          </a:xfrm>
          <a:prstGeom prst="roundRect">
            <a:avLst>
              <a:gd name="adj" fmla="val 17659"/>
            </a:avLst>
          </a:prstGeom>
          <a:solidFill>
            <a:srgbClr val="1E2427"/>
          </a:solidFill>
          <a:ln w="12700">
            <a:solidFill>
              <a:srgbClr val="2D363A"/>
            </a:solidFill>
            <a:prstDash val="solid"/>
          </a:ln>
        </p:spPr>
        <p:txBody>
          <a:bodyPr wrap="square" lIns="68295" tIns="174213" rIns="68295" bIns="148813" rtlCol="0" anchor="t">
            <a:normAutofit/>
          </a:bodyPr>
          <a:lstStyle/>
          <a:p>
            <a:pPr marL="0" indent="0" algn="ctr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F2F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Docker build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175000" y="2760960"/>
            <a:ext cx="36576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8BE3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587750" y="2632670"/>
            <a:ext cx="2247900" cy="683220"/>
          </a:xfrm>
          <a:prstGeom prst="roundRect">
            <a:avLst>
              <a:gd name="adj" fmla="val 17659"/>
            </a:avLst>
          </a:prstGeom>
          <a:solidFill>
            <a:srgbClr val="1E2427"/>
          </a:solidFill>
          <a:ln w="12700">
            <a:solidFill>
              <a:srgbClr val="2D363A"/>
            </a:solidFill>
            <a:prstDash val="solid"/>
          </a:ln>
        </p:spPr>
        <p:txBody>
          <a:bodyPr wrap="square" lIns="68295" tIns="174213" rIns="68295" bIns="148813" rtlCol="0" anchor="t">
            <a:normAutofit/>
          </a:bodyPr>
          <a:lstStyle/>
          <a:p>
            <a:pPr marL="0" indent="0" algn="ctr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F2F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Imagen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943600" y="2760960"/>
            <a:ext cx="36576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8BE3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356350" y="2632670"/>
            <a:ext cx="2247900" cy="683220"/>
          </a:xfrm>
          <a:prstGeom prst="roundRect">
            <a:avLst>
              <a:gd name="adj" fmla="val 17659"/>
            </a:avLst>
          </a:prstGeom>
          <a:solidFill>
            <a:srgbClr val="1E2427"/>
          </a:solidFill>
          <a:ln w="12700">
            <a:solidFill>
              <a:srgbClr val="2D363A"/>
            </a:solidFill>
            <a:prstDash val="solid"/>
          </a:ln>
        </p:spPr>
        <p:txBody>
          <a:bodyPr wrap="square" lIns="68295" tIns="174213" rIns="68295" bIns="148813" rtlCol="0" anchor="t">
            <a:normAutofit/>
          </a:bodyPr>
          <a:lstStyle/>
          <a:p>
            <a:pPr marL="0" indent="0" algn="ctr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F2F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Contenedor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712200" y="2760960"/>
            <a:ext cx="36576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8BE3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9124950" y="2632670"/>
            <a:ext cx="2247900" cy="683220"/>
          </a:xfrm>
          <a:prstGeom prst="roundRect">
            <a:avLst>
              <a:gd name="adj" fmla="val 17659"/>
            </a:avLst>
          </a:prstGeom>
          <a:solidFill>
            <a:srgbClr val="8BE37F"/>
          </a:solidFill>
          <a:ln w="12700">
            <a:solidFill>
              <a:srgbClr val="2D363A"/>
            </a:solidFill>
            <a:prstDash val="solid"/>
          </a:ln>
        </p:spPr>
        <p:txBody>
          <a:bodyPr wrap="square" lIns="68295" tIns="174213" rIns="68295" bIns="148813" rtlCol="0" anchor="t">
            <a:normAutofit/>
          </a:bodyPr>
          <a:lstStyle/>
          <a:p>
            <a:pPr marL="0" indent="0" algn="ctr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418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Aplicación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8C80C17-1309-C4E0-5EC8-5441CBA390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429" y="183861"/>
            <a:ext cx="11553141" cy="6490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0850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F57DB-29F3-3A5E-9FBD-CA137872F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sz="3200" dirty="0"/>
              <a:t>Esta microcredencial NO esta patrocinada por:</a:t>
            </a:r>
            <a:endParaRPr lang="es-AR" sz="3200" dirty="0"/>
          </a:p>
        </p:txBody>
      </p:sp>
      <p:pic>
        <p:nvPicPr>
          <p:cNvPr id="4" name="Picture 3" descr="Sancor Seguros respondió a las críticas por el homenaje a Messi: “El que  brilla es solo él” - El Occidental">
            <a:extLst>
              <a:ext uri="{FF2B5EF4-FFF2-40B4-BE49-F238E27FC236}">
                <a16:creationId xmlns:a16="http://schemas.microsoft.com/office/drawing/2014/main" id="{80A530E9-1C1F-7F25-36C2-3C6EF8D656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6205" y="1587260"/>
            <a:ext cx="7028155" cy="4681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23915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A510E-867E-E8A9-678D-4CEB19172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789" y="2622430"/>
            <a:ext cx="10566400" cy="653691"/>
          </a:xfrm>
        </p:spPr>
        <p:txBody>
          <a:bodyPr/>
          <a:lstStyle/>
          <a:p>
            <a:pPr algn="ctr"/>
            <a:r>
              <a:rPr lang="es-MX" sz="7200" dirty="0"/>
              <a:t>MUCHAS GRACIAS</a:t>
            </a:r>
            <a:endParaRPr lang="es-AR" sz="7200" dirty="0"/>
          </a:p>
        </p:txBody>
      </p:sp>
    </p:spTree>
    <p:extLst>
      <p:ext uri="{BB962C8B-B14F-4D97-AF65-F5344CB8AC3E}">
        <p14:creationId xmlns:p14="http://schemas.microsoft.com/office/powerpoint/2010/main" val="431758550"/>
      </p:ext>
    </p:extLst>
  </p:cSld>
  <p:clrMapOvr>
    <a:masterClrMapping/>
  </p:clrMapOvr>
</p:sld>
</file>

<file path=ppt/theme/theme1.xml><?xml version="1.0" encoding="utf-8"?>
<a:theme xmlns:a="http://schemas.openxmlformats.org/drawingml/2006/main" name="Fundamentos de DevOps – Clase 1">
  <a:themeElements>
    <a:clrScheme name="Fundamentos de DevOps – Clase 1">
      <a:dk1>
        <a:srgbClr val="14181B"/>
      </a:dk1>
      <a:lt1>
        <a:srgbClr val="F2F5F0"/>
      </a:lt1>
      <a:dk2>
        <a:srgbClr val="2A2E30"/>
      </a:dk2>
      <a:lt2>
        <a:srgbClr val="BBBEBB"/>
      </a:lt2>
      <a:accent1>
        <a:srgbClr val="8BE37F"/>
      </a:accent1>
      <a:accent2>
        <a:srgbClr val="2E7D32"/>
      </a:accent2>
      <a:accent3>
        <a:srgbClr val="A9B3AD"/>
      </a:accent3>
      <a:accent4>
        <a:srgbClr val="5D6862"/>
      </a:accent4>
      <a:accent5>
        <a:srgbClr val="2D363A"/>
      </a:accent5>
      <a:accent6>
        <a:srgbClr val="9AA0A6"/>
      </a:accent6>
      <a:hlink>
        <a:srgbClr val="0563C1"/>
      </a:hlink>
      <a:folHlink>
        <a:srgbClr val="954F72"/>
      </a:folHlink>
    </a:clrScheme>
    <a:fontScheme name="Fundamentos de DevOps – Clase 1">
      <a:majorFont>
        <a:latin typeface="Source Serif 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</TotalTime>
  <Words>1700</Words>
  <Application>Microsoft Office PowerPoint</Application>
  <PresentationFormat>Widescreen</PresentationFormat>
  <Paragraphs>358</Paragraphs>
  <Slides>32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Arial</vt:lpstr>
      <vt:lpstr>Consolas</vt:lpstr>
      <vt:lpstr>Inter</vt:lpstr>
      <vt:lpstr>Source Serif 4</vt:lpstr>
      <vt:lpstr>Fundamentos de DevOps – Clase 1</vt:lpstr>
      <vt:lpstr>Fundamentos de DevOps</vt:lpstr>
      <vt:lpstr>Índice</vt:lpstr>
      <vt:lpstr>Hola, soy Damian Trajster</vt:lpstr>
      <vt:lpstr>El problema de siempre</vt:lpstr>
      <vt:lpstr>Dos mundos separados</vt:lpstr>
      <vt:lpstr>¿Qué es DevOps?</vt:lpstr>
      <vt:lpstr>Los pilares de la cultura DevOps</vt:lpstr>
      <vt:lpstr>¿Para qué sirve DevOps?</vt:lpstr>
      <vt:lpstr>Ciclo DevOps</vt:lpstr>
      <vt:lpstr>Herramientas del camino</vt:lpstr>
      <vt:lpstr>Herramientas y para qué sirven</vt:lpstr>
      <vt:lpstr>Git: versionar el código</vt:lpstr>
      <vt:lpstr>Git: comandos básicos</vt:lpstr>
      <vt:lpstr>Tenemos nuestro código en GitHub. ¿Cómo hacemos para que funcione igual en cualquier computadora?</vt:lpstr>
      <vt:lpstr>Tu primer portfolio DevOps</vt:lpstr>
      <vt:lpstr>Paso 1: escribí el prompt</vt:lpstr>
      <vt:lpstr>Paso 2: publicar en GitHub Pages</vt:lpstr>
      <vt:lpstr>El deploy</vt:lpstr>
      <vt:lpstr>Resultado</vt:lpstr>
      <vt:lpstr>¿Qué problema resuelve Docker?</vt:lpstr>
      <vt:lpstr>Docker: Dockerfile, imagen y contenedor</vt:lpstr>
      <vt:lpstr>Crear el proyecto</vt:lpstr>
      <vt:lpstr>Crear index.html</vt:lpstr>
      <vt:lpstr>Crear el Dockerfile</vt:lpstr>
      <vt:lpstr>Construir la imagen</vt:lpstr>
      <vt:lpstr>Ejecutar el contenedor</vt:lpstr>
      <vt:lpstr>Resumen: mi primera app con Docker</vt:lpstr>
      <vt:lpstr>Mini desafío</vt:lpstr>
      <vt:lpstr>Resumen de la Clase 1</vt:lpstr>
      <vt:lpstr>PowerPoint Presentation</vt:lpstr>
      <vt:lpstr>Esta microcredencial NO esta patrocinada por:</vt:lpstr>
      <vt:lpstr>MUCHAS 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Fundamentos de DevOps – Clase 1</dc:title>
  <dc:subject/>
  <dc:creator/>
  <cp:lastModifiedBy>Damian kio Trt</cp:lastModifiedBy>
  <cp:revision>4</cp:revision>
  <dcterms:created xsi:type="dcterms:W3CDTF">2026-10-09T15:09:15Z</dcterms:created>
  <dcterms:modified xsi:type="dcterms:W3CDTF">2026-10-09T19:21:35Z</dcterms:modified>
</cp:coreProperties>
</file>